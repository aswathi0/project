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2"/>
    <p:sldId id="259" r:id="rId3"/>
    <p:sldId id="258" r:id="rId4"/>
    <p:sldId id="256" r:id="rId5"/>
    <p:sldId id="280" r:id="rId6"/>
    <p:sldId id="260" r:id="rId7"/>
    <p:sldId id="271" r:id="rId8"/>
    <p:sldId id="269" r:id="rId9"/>
    <p:sldId id="270" r:id="rId10"/>
    <p:sldId id="262" r:id="rId11"/>
    <p:sldId id="263" r:id="rId12"/>
    <p:sldId id="265" r:id="rId13"/>
    <p:sldId id="272" r:id="rId14"/>
    <p:sldId id="273" r:id="rId15"/>
    <p:sldId id="274" r:id="rId16"/>
    <p:sldId id="275" r:id="rId17"/>
    <p:sldId id="276" r:id="rId18"/>
    <p:sldId id="277" r:id="rId19"/>
    <p:sldId id="268" r:id="rId20"/>
  </p:sldIdLst>
  <p:sldSz cx="12530138" cy="7021513"/>
  <p:notesSz cx="6858000" cy="9144000"/>
  <p:defaultTextStyle>
    <a:defPPr>
      <a:defRPr lang="en-US"/>
    </a:defPPr>
    <a:lvl1pPr marL="0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8433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6866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5300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3733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2166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0599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59032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67465" algn="l" defTabSz="121686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>
          <p15:clr>
            <a:srgbClr val="A4A3A4"/>
          </p15:clr>
        </p15:guide>
        <p15:guide id="2" pos="39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464646"/>
    <a:srgbClr val="414141"/>
    <a:srgbClr val="3E3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53" autoAdjust="0"/>
    <p:restoredTop sz="94660"/>
  </p:normalViewPr>
  <p:slideViewPr>
    <p:cSldViewPr>
      <p:cViewPr varScale="1">
        <p:scale>
          <a:sx n="80" d="100"/>
          <a:sy n="80" d="100"/>
        </p:scale>
        <p:origin x="749" y="67"/>
      </p:cViewPr>
      <p:guideLst>
        <p:guide orient="horz" pos="2212"/>
        <p:guide pos="39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DC31A-9052-45CC-AB29-D4FA10BC611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9888" y="685800"/>
            <a:ext cx="6118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A1036-7C47-4D76-8503-7322DAE484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9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762" y="2181223"/>
            <a:ext cx="10650617" cy="1505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9522" y="3978859"/>
            <a:ext cx="8771097" cy="17943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8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6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5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3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2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0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590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67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5CFA-7632-4B2A-9131-714243DA7B26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52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7A82-FBBF-4476-B791-F9C4518FCC75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04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796" y="4511975"/>
            <a:ext cx="10650617" cy="1394551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796" y="2976019"/>
            <a:ext cx="10650617" cy="1535955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843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6866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53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4337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30421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65059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2590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8674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EA0C-19AF-4224-9A44-6AFF6C749114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38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6507" y="1638357"/>
            <a:ext cx="5534145" cy="463387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9488" y="1638357"/>
            <a:ext cx="5534145" cy="463387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B4B2-FFD0-4FAC-B2AE-8574D9173EF1}" type="datetime1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26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507" y="1571715"/>
            <a:ext cx="5536320" cy="65501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433" indent="0">
              <a:buNone/>
              <a:defRPr sz="2700" b="1"/>
            </a:lvl2pPr>
            <a:lvl3pPr marL="1216866" indent="0">
              <a:buNone/>
              <a:defRPr sz="2400" b="1"/>
            </a:lvl3pPr>
            <a:lvl4pPr marL="1825300" indent="0">
              <a:buNone/>
              <a:defRPr sz="2100" b="1"/>
            </a:lvl4pPr>
            <a:lvl5pPr marL="2433733" indent="0">
              <a:buNone/>
              <a:defRPr sz="2100" b="1"/>
            </a:lvl5pPr>
            <a:lvl6pPr marL="3042166" indent="0">
              <a:buNone/>
              <a:defRPr sz="2100" b="1"/>
            </a:lvl6pPr>
            <a:lvl7pPr marL="3650599" indent="0">
              <a:buNone/>
              <a:defRPr sz="2100" b="1"/>
            </a:lvl7pPr>
            <a:lvl8pPr marL="4259032" indent="0">
              <a:buNone/>
              <a:defRPr sz="2100" b="1"/>
            </a:lvl8pPr>
            <a:lvl9pPr marL="486746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507" y="2226730"/>
            <a:ext cx="5536320" cy="4045497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5141" y="1571715"/>
            <a:ext cx="5538495" cy="65501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433" indent="0">
              <a:buNone/>
              <a:defRPr sz="2700" b="1"/>
            </a:lvl2pPr>
            <a:lvl3pPr marL="1216866" indent="0">
              <a:buNone/>
              <a:defRPr sz="2400" b="1"/>
            </a:lvl3pPr>
            <a:lvl4pPr marL="1825300" indent="0">
              <a:buNone/>
              <a:defRPr sz="2100" b="1"/>
            </a:lvl4pPr>
            <a:lvl5pPr marL="2433733" indent="0">
              <a:buNone/>
              <a:defRPr sz="2100" b="1"/>
            </a:lvl5pPr>
            <a:lvl6pPr marL="3042166" indent="0">
              <a:buNone/>
              <a:defRPr sz="2100" b="1"/>
            </a:lvl6pPr>
            <a:lvl7pPr marL="3650599" indent="0">
              <a:buNone/>
              <a:defRPr sz="2100" b="1"/>
            </a:lvl7pPr>
            <a:lvl8pPr marL="4259032" indent="0">
              <a:buNone/>
              <a:defRPr sz="2100" b="1"/>
            </a:lvl8pPr>
            <a:lvl9pPr marL="486746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5141" y="2226730"/>
            <a:ext cx="5538495" cy="4045497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DF4E-696A-41C3-BF81-CDFAA8D165B5}" type="datetime1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42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63A15-45EF-4F63-9CAA-C0A575DF603B}" type="datetime1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66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067A-6EE2-4998-BC78-A236005B7BCA}" type="datetime1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13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510" y="279560"/>
            <a:ext cx="4122329" cy="1189758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937" y="279564"/>
            <a:ext cx="7004695" cy="5992667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6510" y="1469318"/>
            <a:ext cx="4122329" cy="4802910"/>
          </a:xfrm>
        </p:spPr>
        <p:txBody>
          <a:bodyPr/>
          <a:lstStyle>
            <a:lvl1pPr marL="0" indent="0">
              <a:buNone/>
              <a:defRPr sz="1800"/>
            </a:lvl1pPr>
            <a:lvl2pPr marL="608433" indent="0">
              <a:buNone/>
              <a:defRPr sz="1600"/>
            </a:lvl2pPr>
            <a:lvl3pPr marL="1216866" indent="0">
              <a:buNone/>
              <a:defRPr sz="1300"/>
            </a:lvl3pPr>
            <a:lvl4pPr marL="1825300" indent="0">
              <a:buNone/>
              <a:defRPr sz="1200"/>
            </a:lvl4pPr>
            <a:lvl5pPr marL="2433733" indent="0">
              <a:buNone/>
              <a:defRPr sz="1200"/>
            </a:lvl5pPr>
            <a:lvl6pPr marL="3042166" indent="0">
              <a:buNone/>
              <a:defRPr sz="1200"/>
            </a:lvl6pPr>
            <a:lvl7pPr marL="3650599" indent="0">
              <a:buNone/>
              <a:defRPr sz="1200"/>
            </a:lvl7pPr>
            <a:lvl8pPr marL="4259032" indent="0">
              <a:buNone/>
              <a:defRPr sz="1200"/>
            </a:lvl8pPr>
            <a:lvl9pPr marL="486746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7571D-E7FD-4D09-BE56-78DC2BAED581}" type="datetime1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4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995" y="4915061"/>
            <a:ext cx="7518083" cy="5802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55995" y="627385"/>
            <a:ext cx="7518083" cy="4212908"/>
          </a:xfrm>
        </p:spPr>
        <p:txBody>
          <a:bodyPr/>
          <a:lstStyle>
            <a:lvl1pPr marL="0" indent="0">
              <a:buNone/>
              <a:defRPr sz="4300"/>
            </a:lvl1pPr>
            <a:lvl2pPr marL="608433" indent="0">
              <a:buNone/>
              <a:defRPr sz="3700"/>
            </a:lvl2pPr>
            <a:lvl3pPr marL="1216866" indent="0">
              <a:buNone/>
              <a:defRPr sz="3200"/>
            </a:lvl3pPr>
            <a:lvl4pPr marL="1825300" indent="0">
              <a:buNone/>
              <a:defRPr sz="2700"/>
            </a:lvl4pPr>
            <a:lvl5pPr marL="2433733" indent="0">
              <a:buNone/>
              <a:defRPr sz="2700"/>
            </a:lvl5pPr>
            <a:lvl6pPr marL="3042166" indent="0">
              <a:buNone/>
              <a:defRPr sz="2700"/>
            </a:lvl6pPr>
            <a:lvl7pPr marL="3650599" indent="0">
              <a:buNone/>
              <a:defRPr sz="2700"/>
            </a:lvl7pPr>
            <a:lvl8pPr marL="4259032" indent="0">
              <a:buNone/>
              <a:defRPr sz="2700"/>
            </a:lvl8pPr>
            <a:lvl9pPr marL="4867465" indent="0">
              <a:buNone/>
              <a:defRPr sz="27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5995" y="5495311"/>
            <a:ext cx="7518083" cy="824052"/>
          </a:xfrm>
        </p:spPr>
        <p:txBody>
          <a:bodyPr/>
          <a:lstStyle>
            <a:lvl1pPr marL="0" indent="0">
              <a:buNone/>
              <a:defRPr sz="1800"/>
            </a:lvl1pPr>
            <a:lvl2pPr marL="608433" indent="0">
              <a:buNone/>
              <a:defRPr sz="1600"/>
            </a:lvl2pPr>
            <a:lvl3pPr marL="1216866" indent="0">
              <a:buNone/>
              <a:defRPr sz="1300"/>
            </a:lvl3pPr>
            <a:lvl4pPr marL="1825300" indent="0">
              <a:buNone/>
              <a:defRPr sz="1200"/>
            </a:lvl4pPr>
            <a:lvl5pPr marL="2433733" indent="0">
              <a:buNone/>
              <a:defRPr sz="1200"/>
            </a:lvl5pPr>
            <a:lvl6pPr marL="3042166" indent="0">
              <a:buNone/>
              <a:defRPr sz="1200"/>
            </a:lvl6pPr>
            <a:lvl7pPr marL="3650599" indent="0">
              <a:buNone/>
              <a:defRPr sz="1200"/>
            </a:lvl7pPr>
            <a:lvl8pPr marL="4259032" indent="0">
              <a:buNone/>
              <a:defRPr sz="1200"/>
            </a:lvl8pPr>
            <a:lvl9pPr marL="486746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D193A-D6BD-49ED-B94B-0CE7E3BDD265}" type="datetime1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5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AD443-502F-48AB-8928-AE85B6E92714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72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84351" y="281189"/>
            <a:ext cx="2819281" cy="59910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6508" y="281189"/>
            <a:ext cx="8249007" cy="59910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18C56-469B-465E-A2C6-D34D22A25BCE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54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6508" y="281188"/>
            <a:ext cx="11277125" cy="1170253"/>
          </a:xfrm>
          <a:prstGeom prst="rect">
            <a:avLst/>
          </a:prstGeom>
        </p:spPr>
        <p:txBody>
          <a:bodyPr vert="horz" lIns="121687" tIns="60843" rIns="121687" bIns="60843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508" y="1638357"/>
            <a:ext cx="11277125" cy="4633873"/>
          </a:xfrm>
          <a:prstGeom prst="rect">
            <a:avLst/>
          </a:prstGeom>
        </p:spPr>
        <p:txBody>
          <a:bodyPr vert="horz" lIns="121687" tIns="60843" rIns="121687" bIns="6084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6508" y="6507904"/>
            <a:ext cx="2923698" cy="373830"/>
          </a:xfrm>
          <a:prstGeom prst="rect">
            <a:avLst/>
          </a:prstGeom>
        </p:spPr>
        <p:txBody>
          <a:bodyPr vert="horz" lIns="121687" tIns="60843" rIns="121687" bIns="60843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85A31-076E-41A0-AA7A-7676E149FD02}" type="datetime1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81131" y="6507904"/>
            <a:ext cx="3967878" cy="373830"/>
          </a:xfrm>
          <a:prstGeom prst="rect">
            <a:avLst/>
          </a:prstGeom>
        </p:spPr>
        <p:txBody>
          <a:bodyPr vert="horz" lIns="121687" tIns="60843" rIns="121687" bIns="60843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79934" y="6507904"/>
            <a:ext cx="2923698" cy="373830"/>
          </a:xfrm>
          <a:prstGeom prst="rect">
            <a:avLst/>
          </a:prstGeom>
        </p:spPr>
        <p:txBody>
          <a:bodyPr vert="horz" lIns="121687" tIns="60843" rIns="121687" bIns="60843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0F415-F0C1-4435-939E-1925BA790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01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216866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325" indent="-456325" algn="l" defTabSz="1216866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8704" indent="-380271" algn="l" defTabSz="1216866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1083" indent="-304217" algn="l" defTabSz="121686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29516" indent="-304217" algn="l" defTabSz="1216866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37949" indent="-304217" algn="l" defTabSz="1216866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46382" indent="-304217" algn="l" defTabSz="1216866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4816" indent="-304217" algn="l" defTabSz="1216866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3249" indent="-304217" algn="l" defTabSz="1216866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1682" indent="-304217" algn="l" defTabSz="1216866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433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6866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00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3733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2166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0599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59032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67465" algn="l" defTabSz="1216866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44680"/>
            <a:ext cx="115932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</a:t>
            </a:r>
            <a:r>
              <a:rPr lang="en-IN" sz="5400">
                <a:latin typeface="Times New Roman" panose="02020603050405020304" pitchFamily="18" charset="0"/>
                <a:cs typeface="Times New Roman" panose="02020603050405020304" pitchFamily="18" charset="0"/>
              </a:rPr>
              <a:t>FAKE CERTIFICATE         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7124426" y="4758076"/>
            <a:ext cx="505003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PRESENTED   BY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SWATHI  A    -   810022205068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BANUPRIYA M     -  810022205085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26506" y="5022924"/>
            <a:ext cx="46217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 BY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Mrs.C.Kanimozhi.,M.TECH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</a:t>
            </a:r>
            <a:endParaRPr lang="en-IN" dirty="0"/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1</a:t>
            </a:fld>
            <a:endParaRPr lang="en-IN"/>
          </a:p>
        </p:txBody>
      </p:sp>
      <p:pic>
        <p:nvPicPr>
          <p:cNvPr id="1026" name="Picture 2" descr="Free Anna University Logo Vector Download | Logowik">
            <a:extLst>
              <a:ext uri="{FF2B5EF4-FFF2-40B4-BE49-F238E27FC236}">
                <a16:creationId xmlns:a16="http://schemas.microsoft.com/office/drawing/2014/main" id="{B9E71D64-538A-72C1-8D37-E24576134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73" y="163060"/>
            <a:ext cx="1984640" cy="156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A81D5B-696A-DB4A-F824-A2CCD084EB4F}"/>
              </a:ext>
            </a:extLst>
          </p:cNvPr>
          <p:cNvSpPr txBox="1"/>
          <p:nvPr/>
        </p:nvSpPr>
        <p:spPr>
          <a:xfrm>
            <a:off x="2520653" y="563518"/>
            <a:ext cx="7488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ENGINEERING,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CAMPUS,TIRUCHIRAPPALLI</a:t>
            </a:r>
          </a:p>
        </p:txBody>
      </p:sp>
    </p:spTree>
    <p:extLst>
      <p:ext uri="{BB962C8B-B14F-4D97-AF65-F5344CB8AC3E}">
        <p14:creationId xmlns:p14="http://schemas.microsoft.com/office/powerpoint/2010/main" val="426672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6143" y="990498"/>
            <a:ext cx="8485919" cy="86153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IN" sz="4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440533" y="2214612"/>
            <a:ext cx="98650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Academic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marksheets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degree certificates can be easily altered using image editing tools without visibly changing their overall structure and format.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Existing verification systems mainly analyze textual content and fail to detect subtle background texture changes caused by document tampering.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16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42013" y="2502644"/>
            <a:ext cx="9472653" cy="305181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pPr marL="380271" indent="-380271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600" dirty="0" err="1">
                <a:latin typeface="Times New Roman" pitchFamily="18" charset="0"/>
                <a:cs typeface="Times New Roman" pitchFamily="18" charset="0"/>
              </a:rPr>
              <a:t>analyze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 document image textures for forgery detection.</a:t>
            </a:r>
          </a:p>
          <a:p>
            <a:pPr marL="380271" indent="-38027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To use GAN for extracting deep texture features from document images.</a:t>
            </a:r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pPr marL="380271" indent="-380271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To train a deep learning model for real </a:t>
            </a:r>
            <a:r>
              <a:rPr lang="en-IN" sz="26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 fake classification.</a:t>
            </a:r>
          </a:p>
          <a:p>
            <a:pPr marL="380271" indent="-380271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600" dirty="0">
                <a:latin typeface="Times New Roman" pitchFamily="18" charset="0"/>
                <a:cs typeface="Times New Roman" pitchFamily="18" charset="0"/>
              </a:rPr>
              <a:t>To build a simple web interface for document upload and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356" y="632994"/>
            <a:ext cx="4144285" cy="86153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2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395" y="2430636"/>
            <a:ext cx="9974234" cy="2708197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This project develops a texture-based fake certificate detection system that analyzes document images using CNN and GAN models. The system learns deep texture features from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marksheets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certificates to identify inconsistencies caused by editing or digital manipulation. Based on these learned patterns, the model classifies the document as real or fake.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356" y="992532"/>
            <a:ext cx="3650918" cy="86153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45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11F9B-8FAD-B772-FB9F-43D3A156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9C6832-A57F-2444-43D5-AF65689A9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050374"/>
              </p:ext>
            </p:extLst>
          </p:nvPr>
        </p:nvGraphicFramePr>
        <p:xfrm>
          <a:off x="576437" y="851600"/>
          <a:ext cx="11449273" cy="595348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6371">
                  <a:extLst>
                    <a:ext uri="{9D8B030D-6E8A-4147-A177-3AD203B41FA5}">
                      <a16:colId xmlns:a16="http://schemas.microsoft.com/office/drawing/2014/main" val="4193637126"/>
                    </a:ext>
                  </a:extLst>
                </a:gridCol>
                <a:gridCol w="1349786">
                  <a:extLst>
                    <a:ext uri="{9D8B030D-6E8A-4147-A177-3AD203B41FA5}">
                      <a16:colId xmlns:a16="http://schemas.microsoft.com/office/drawing/2014/main" val="3741009695"/>
                    </a:ext>
                  </a:extLst>
                </a:gridCol>
                <a:gridCol w="1597592">
                  <a:extLst>
                    <a:ext uri="{9D8B030D-6E8A-4147-A177-3AD203B41FA5}">
                      <a16:colId xmlns:a16="http://schemas.microsoft.com/office/drawing/2014/main" val="1966973239"/>
                    </a:ext>
                  </a:extLst>
                </a:gridCol>
                <a:gridCol w="1192815">
                  <a:extLst>
                    <a:ext uri="{9D8B030D-6E8A-4147-A177-3AD203B41FA5}">
                      <a16:colId xmlns:a16="http://schemas.microsoft.com/office/drawing/2014/main" val="608645932"/>
                    </a:ext>
                  </a:extLst>
                </a:gridCol>
                <a:gridCol w="1593607">
                  <a:extLst>
                    <a:ext uri="{9D8B030D-6E8A-4147-A177-3AD203B41FA5}">
                      <a16:colId xmlns:a16="http://schemas.microsoft.com/office/drawing/2014/main" val="387125652"/>
                    </a:ext>
                  </a:extLst>
                </a:gridCol>
                <a:gridCol w="1313929">
                  <a:extLst>
                    <a:ext uri="{9D8B030D-6E8A-4147-A177-3AD203B41FA5}">
                      <a16:colId xmlns:a16="http://schemas.microsoft.com/office/drawing/2014/main" val="3908214591"/>
                    </a:ext>
                  </a:extLst>
                </a:gridCol>
                <a:gridCol w="1961730">
                  <a:extLst>
                    <a:ext uri="{9D8B030D-6E8A-4147-A177-3AD203B41FA5}">
                      <a16:colId xmlns:a16="http://schemas.microsoft.com/office/drawing/2014/main" val="3817771316"/>
                    </a:ext>
                  </a:extLst>
                </a:gridCol>
                <a:gridCol w="2033443">
                  <a:extLst>
                    <a:ext uri="{9D8B030D-6E8A-4147-A177-3AD203B41FA5}">
                      <a16:colId xmlns:a16="http://schemas.microsoft.com/office/drawing/2014/main" val="2468014546"/>
                    </a:ext>
                  </a:extLst>
                </a:gridCol>
              </a:tblGrid>
              <a:tr h="432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s.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no </a:t>
                      </a:r>
                      <a:endParaRPr lang="en-IN" sz="1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Title</a:t>
                      </a:r>
                      <a:r>
                        <a:rPr lang="en-IN" sz="1200" kern="100" dirty="0">
                          <a:effectLst/>
                        </a:rPr>
                        <a:t> 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Year/Publisher </a:t>
                      </a:r>
                      <a:endParaRPr lang="en-IN" sz="1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Authors name </a:t>
                      </a:r>
                      <a:endParaRPr lang="en-IN" sz="1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Methodology </a:t>
                      </a:r>
                      <a:endParaRPr lang="en-IN" sz="1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limitation </a:t>
                      </a:r>
                      <a:endParaRPr lang="en-IN" sz="1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Future Work </a:t>
                      </a:r>
                      <a:endParaRPr lang="en-IN" sz="1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dirty="0">
                          <a:effectLst/>
                        </a:rPr>
                        <a:t>Achievements </a:t>
                      </a:r>
                      <a:endParaRPr lang="en-IN" sz="1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extLst>
                  <a:ext uri="{0D108BD9-81ED-4DB2-BD59-A6C34878D82A}">
                    <a16:rowId xmlns:a16="http://schemas.microsoft.com/office/drawing/2014/main" val="3242938507"/>
                  </a:ext>
                </a:extLst>
              </a:tr>
              <a:tr h="10569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1.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Deepfake Generation and Detection: Case Study and Challenges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2023 / IEEE Access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Yogesh Patel et al.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Used GAN, CNN, Autoencoders for deepfake generation &amp; detection; spatial and texture inconsistencies </a:t>
                      </a:r>
                      <a:r>
                        <a:rPr lang="en-IN" sz="1200" kern="100" dirty="0" err="1">
                          <a:effectLst/>
                        </a:rPr>
                        <a:t>analyzed</a:t>
                      </a:r>
                      <a:r>
                        <a:rPr lang="en-IN" sz="1200" kern="100" dirty="0">
                          <a:effectLst/>
                        </a:rPr>
                        <a:t>.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Requires large datasets; struggles with highly realistic GAN images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Improve dataset quality and multimodal detection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3429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Provided comprehensive survey of GAN-based detection and techniques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extLst>
                  <a:ext uri="{0D108BD9-81ED-4DB2-BD59-A6C34878D82A}">
                    <a16:rowId xmlns:a16="http://schemas.microsoft.com/office/drawing/2014/main" val="329239103"/>
                  </a:ext>
                </a:extLst>
              </a:tr>
              <a:tr h="10569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2.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Image Forgery Detection Techniques: Latest Trends and Key Challenges.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2024 / IEEE Access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Poulomi Deb et al.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Active (watermarking) &amp; Passive (copy-move, splicing); texture + statistical features + ML models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4127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Watermarking not always available; passive methods less robust for complex forgery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Integration of deep learning with traditional methods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Compared multiple forgery detection techniques with strengths &amp; weaknesses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extLst>
                  <a:ext uri="{0D108BD9-81ED-4DB2-BD59-A6C34878D82A}">
                    <a16:rowId xmlns:a16="http://schemas.microsoft.com/office/drawing/2014/main" val="1983979531"/>
                  </a:ext>
                </a:extLst>
              </a:tr>
              <a:tr h="732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3.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CNN-Based Image Forgery Detection.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2020 /IEEE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4254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Various Authors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Deep CNN for feature extraction and classification of forged images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Requires high computational power; overfitting risk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Lightweight CNN models and real-time detection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19812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 accuracy in image forgery classification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extLst>
                  <a:ext uri="{0D108BD9-81ED-4DB2-BD59-A6C34878D82A}">
                    <a16:rowId xmlns:a16="http://schemas.microsoft.com/office/drawing/2014/main" val="606512055"/>
                  </a:ext>
                </a:extLst>
              </a:tr>
              <a:tr h="7983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4.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Copy-Move Forgery Detection using DCT &amp; PCA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2024/IEEE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Various Authors.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Block-based method using DCT, PCA for detecting duplicated regions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Cannot detect complex transformations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2413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Use deep learning for robust detection.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2032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Efficient for simple forgery detection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extLst>
                  <a:ext uri="{0D108BD9-81ED-4DB2-BD59-A6C34878D82A}">
                    <a16:rowId xmlns:a16="http://schemas.microsoft.com/office/drawing/2014/main" val="818031471"/>
                  </a:ext>
                </a:extLst>
              </a:tr>
              <a:tr h="7983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5.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GAN-Based Image Forgery Detection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2021/IEEE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127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Aryan et al.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Used GAN discriminator features + CNN classifier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3175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Difficult to detect advanced GAN-generated images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Improve adversarial training techniques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Improved detection of synthetic images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extLst>
                  <a:ext uri="{0D108BD9-81ED-4DB2-BD59-A6C34878D82A}">
                    <a16:rowId xmlns:a16="http://schemas.microsoft.com/office/drawing/2014/main" val="1649610573"/>
                  </a:ext>
                </a:extLst>
              </a:tr>
              <a:tr h="6691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6. 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Hybrid CNN + Texture Features for Document Authentication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2022 /Springer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 marR="127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Research Community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Combined CNN + GLCM + LBP for feature fusion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Increased model complexity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Optimization and feature selection techniques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Higher accuracy than single-method approaches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690" marR="10818" marT="25127" marB="0"/>
                </a:tc>
                <a:extLst>
                  <a:ext uri="{0D108BD9-81ED-4DB2-BD59-A6C34878D82A}">
                    <a16:rowId xmlns:a16="http://schemas.microsoft.com/office/drawing/2014/main" val="31666895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69BFDD-26A4-BF16-6E90-0958911AF71B}"/>
              </a:ext>
            </a:extLst>
          </p:cNvPr>
          <p:cNvSpPr txBox="1"/>
          <p:nvPr/>
        </p:nvSpPr>
        <p:spPr>
          <a:xfrm>
            <a:off x="288405" y="216425"/>
            <a:ext cx="6267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</p:spTree>
    <p:extLst>
      <p:ext uri="{BB962C8B-B14F-4D97-AF65-F5344CB8AC3E}">
        <p14:creationId xmlns:p14="http://schemas.microsoft.com/office/powerpoint/2010/main" val="2205600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1396" y="1937960"/>
            <a:ext cx="9472653" cy="3077529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pPr marL="380271" indent="-380271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DigiLocker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pPr marL="380271" indent="-380271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EduChecker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pPr marL="380271" indent="-380271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Meon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Marksheet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 Verification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356" y="561763"/>
            <a:ext cx="6315102" cy="86153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IN" sz="4800" dirty="0">
                <a:latin typeface="Times New Roman" pitchFamily="18" charset="0"/>
                <a:cs typeface="Times New Roman" pitchFamily="18" charset="0"/>
              </a:rPr>
              <a:t>EXISTING APP</a:t>
            </a:r>
          </a:p>
        </p:txBody>
      </p:sp>
    </p:spTree>
    <p:extLst>
      <p:ext uri="{BB962C8B-B14F-4D97-AF65-F5344CB8AC3E}">
        <p14:creationId xmlns:p14="http://schemas.microsoft.com/office/powerpoint/2010/main" val="1286972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383F69A6-8208-B9A3-3B96-2E3669033F53}"/>
              </a:ext>
            </a:extLst>
          </p:cNvPr>
          <p:cNvSpPr txBox="1"/>
          <p:nvPr/>
        </p:nvSpPr>
        <p:spPr>
          <a:xfrm>
            <a:off x="216397" y="256124"/>
            <a:ext cx="6267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EFEA2E-335B-5BD2-D76B-E46CB8CD1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06" t="12853" r="14606" b="7954"/>
          <a:stretch>
            <a:fillRect/>
          </a:stretch>
        </p:blipFill>
        <p:spPr>
          <a:xfrm>
            <a:off x="3816797" y="1134492"/>
            <a:ext cx="4680520" cy="5560629"/>
          </a:xfrm>
          <a:prstGeom prst="rect">
            <a:avLst/>
          </a:prstGeom>
          <a:ln>
            <a:solidFill>
              <a:srgbClr val="414141"/>
            </a:solidFill>
          </a:ln>
          <a:effectLst>
            <a:softEdge rad="112500"/>
          </a:effec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FB74A9-34E8-EA7D-D9A1-B14A633BF679}"/>
              </a:ext>
            </a:extLst>
          </p:cNvPr>
          <p:cNvSpPr/>
          <p:nvPr/>
        </p:nvSpPr>
        <p:spPr>
          <a:xfrm>
            <a:off x="5905029" y="5209808"/>
            <a:ext cx="1512168" cy="144016"/>
          </a:xfrm>
          <a:prstGeom prst="roundRect">
            <a:avLst/>
          </a:prstGeom>
          <a:solidFill>
            <a:srgbClr val="3E3E3E"/>
          </a:solidFill>
          <a:ln>
            <a:solidFill>
              <a:srgbClr val="42424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1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744789" y="9904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Graphic 28" descr="Female Profile with solid fill">
            <a:extLst>
              <a:ext uri="{FF2B5EF4-FFF2-40B4-BE49-F238E27FC236}">
                <a16:creationId xmlns:a16="http://schemas.microsoft.com/office/drawing/2014/main" id="{F8D1677D-A9C4-6D15-04CF-CE7B19940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840" y="1968444"/>
            <a:ext cx="1405514" cy="14055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395" y="574977"/>
            <a:ext cx="4507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DFD DIAGRAM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0973" y="372678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829221" y="227549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90EF9C-E68B-ACEF-464D-223161B39100}"/>
              </a:ext>
            </a:extLst>
          </p:cNvPr>
          <p:cNvCxnSpPr>
            <a:cxnSpLocks/>
          </p:cNvCxnSpPr>
          <p:nvPr/>
        </p:nvCxnSpPr>
        <p:spPr>
          <a:xfrm>
            <a:off x="2880693" y="2630440"/>
            <a:ext cx="1368867" cy="0"/>
          </a:xfrm>
          <a:prstGeom prst="straightConnector1">
            <a:avLst/>
          </a:prstGeom>
          <a:ln w="44450">
            <a:solidFill>
              <a:schemeClr val="accent1">
                <a:lumMod val="1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77437" y="168174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9" name="TextBox 38"/>
          <p:cNvSpPr txBox="1"/>
          <p:nvPr/>
        </p:nvSpPr>
        <p:spPr>
          <a:xfrm>
            <a:off x="11521653" y="57225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 rot="3398075">
            <a:off x="7746775" y="2506325"/>
            <a:ext cx="23124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11706384" y="31152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49" name="Graphic 30" descr="User with solid fill">
            <a:extLst>
              <a:ext uri="{FF2B5EF4-FFF2-40B4-BE49-F238E27FC236}">
                <a16:creationId xmlns:a16="http://schemas.microsoft.com/office/drawing/2014/main" id="{54004596-BF24-E647-617F-48C156C21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3501" y="1889218"/>
            <a:ext cx="1405514" cy="140551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542858" y="313678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User</a:t>
            </a:r>
            <a:endParaRPr lang="en-IN" sz="1800" dirty="0"/>
          </a:p>
        </p:txBody>
      </p:sp>
      <p:sp>
        <p:nvSpPr>
          <p:cNvPr id="62" name="TextBox 61"/>
          <p:cNvSpPr txBox="1"/>
          <p:nvPr/>
        </p:nvSpPr>
        <p:spPr>
          <a:xfrm>
            <a:off x="10460120" y="3086134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Admin</a:t>
            </a:r>
            <a:endParaRPr lang="en-IN" sz="18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5B2A17-7D6B-62AE-119C-7134755A57DA}"/>
              </a:ext>
            </a:extLst>
          </p:cNvPr>
          <p:cNvGrpSpPr/>
          <p:nvPr/>
        </p:nvGrpSpPr>
        <p:grpSpPr>
          <a:xfrm>
            <a:off x="4814118" y="1523652"/>
            <a:ext cx="3600400" cy="2386349"/>
            <a:chOff x="4050887" y="1812493"/>
            <a:chExt cx="3215149" cy="1944329"/>
          </a:xfrm>
          <a:noFill/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7655220-3693-9C24-DCFB-16C99FF8CC19}"/>
                </a:ext>
              </a:extLst>
            </p:cNvPr>
            <p:cNvSpPr/>
            <p:nvPr/>
          </p:nvSpPr>
          <p:spPr>
            <a:xfrm>
              <a:off x="4050887" y="1812493"/>
              <a:ext cx="3215149" cy="194432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5C9D2A0-C847-3828-535D-A57ED546EFAF}"/>
                </a:ext>
              </a:extLst>
            </p:cNvPr>
            <p:cNvSpPr txBox="1"/>
            <p:nvPr/>
          </p:nvSpPr>
          <p:spPr>
            <a:xfrm>
              <a:off x="4791324" y="2189319"/>
              <a:ext cx="1809135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Times New Roman" pitchFamily="18" charset="0"/>
                  <a:cs typeface="Times New Roman" pitchFamily="18" charset="0"/>
                </a:rPr>
                <a:t>FAKE DOCUMENT DETECTION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30FB01-9DB9-B7EB-C326-46E05E219C8E}"/>
                </a:ext>
              </a:extLst>
            </p:cNvPr>
            <p:cNvCxnSpPr>
              <a:cxnSpLocks/>
            </p:cNvCxnSpPr>
            <p:nvPr/>
          </p:nvCxnSpPr>
          <p:spPr>
            <a:xfrm>
              <a:off x="4501008" y="2706329"/>
              <a:ext cx="2369574" cy="0"/>
            </a:xfrm>
            <a:prstGeom prst="line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6BACE9-31BB-FBAD-3958-109576CA14E4}"/>
                </a:ext>
              </a:extLst>
            </p:cNvPr>
            <p:cNvSpPr txBox="1"/>
            <p:nvPr/>
          </p:nvSpPr>
          <p:spPr>
            <a:xfrm>
              <a:off x="4539801" y="2891045"/>
              <a:ext cx="2369574" cy="6018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Arial" panose="020B0604020202020204" pitchFamily="34" charset="0"/>
                  <a:cs typeface="Arial" panose="020B0604020202020204" pitchFamily="34" charset="0"/>
                </a:rPr>
                <a:t>UPLOAD DOCUMENT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Arial" panose="020B0604020202020204" pitchFamily="34" charset="0"/>
                  <a:cs typeface="Arial" panose="020B0604020202020204" pitchFamily="34" charset="0"/>
                </a:rPr>
                <a:t>ANALYZE DOCUMENT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Arial" panose="020B0604020202020204" pitchFamily="34" charset="0"/>
                  <a:cs typeface="Arial" panose="020B0604020202020204" pitchFamily="34" charset="0"/>
                </a:rPr>
                <a:t>GENERATE NOTIFICATION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E38404-2493-49CB-1116-0B6B3EBF15ED}"/>
              </a:ext>
            </a:extLst>
          </p:cNvPr>
          <p:cNvCxnSpPr>
            <a:cxnSpLocks/>
          </p:cNvCxnSpPr>
          <p:nvPr/>
        </p:nvCxnSpPr>
        <p:spPr>
          <a:xfrm>
            <a:off x="8654844" y="2671201"/>
            <a:ext cx="1155291" cy="0"/>
          </a:xfrm>
          <a:prstGeom prst="straightConnector1">
            <a:avLst/>
          </a:prstGeom>
          <a:ln w="47625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DB84F71-6DC7-6BDC-B6B0-5DE062AC1E62}"/>
              </a:ext>
            </a:extLst>
          </p:cNvPr>
          <p:cNvGrpSpPr/>
          <p:nvPr/>
        </p:nvGrpSpPr>
        <p:grpSpPr>
          <a:xfrm>
            <a:off x="6874304" y="3510756"/>
            <a:ext cx="2637925" cy="1307979"/>
            <a:chOff x="7231623" y="4136629"/>
            <a:chExt cx="2064776" cy="867819"/>
          </a:xfrm>
          <a:solidFill>
            <a:srgbClr val="3683B8"/>
          </a:solidFill>
        </p:grpSpPr>
        <p:sp>
          <p:nvSpPr>
            <p:cNvPr id="38" name="Flowchart: Magnetic Disk 37">
              <a:extLst>
                <a:ext uri="{FF2B5EF4-FFF2-40B4-BE49-F238E27FC236}">
                  <a16:creationId xmlns:a16="http://schemas.microsoft.com/office/drawing/2014/main" id="{E1EB8E3C-4BD4-BE07-68AA-8BFE1404DF26}"/>
                </a:ext>
              </a:extLst>
            </p:cNvPr>
            <p:cNvSpPr/>
            <p:nvPr/>
          </p:nvSpPr>
          <p:spPr>
            <a:xfrm>
              <a:off x="7231623" y="4596409"/>
              <a:ext cx="2064776" cy="408039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DETECTION RESULT DATABASE</a:t>
              </a:r>
            </a:p>
          </p:txBody>
        </p:sp>
        <p:sp>
          <p:nvSpPr>
            <p:cNvPr id="41" name="Flowchart: Magnetic Disk 40">
              <a:extLst>
                <a:ext uri="{FF2B5EF4-FFF2-40B4-BE49-F238E27FC236}">
                  <a16:creationId xmlns:a16="http://schemas.microsoft.com/office/drawing/2014/main" id="{F3E1A855-E094-85FA-51C0-76DB25001F23}"/>
                </a:ext>
              </a:extLst>
            </p:cNvPr>
            <p:cNvSpPr/>
            <p:nvPr/>
          </p:nvSpPr>
          <p:spPr>
            <a:xfrm>
              <a:off x="7452851" y="4306357"/>
              <a:ext cx="1622321" cy="408038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DOCUMENT DATABASE</a:t>
              </a:r>
            </a:p>
          </p:txBody>
        </p:sp>
        <p:sp>
          <p:nvSpPr>
            <p:cNvPr id="42" name="Flowchart: Magnetic Disk 41">
              <a:extLst>
                <a:ext uri="{FF2B5EF4-FFF2-40B4-BE49-F238E27FC236}">
                  <a16:creationId xmlns:a16="http://schemas.microsoft.com/office/drawing/2014/main" id="{48F6BF69-299C-C5F2-A878-09CC3FE94693}"/>
                </a:ext>
              </a:extLst>
            </p:cNvPr>
            <p:cNvSpPr/>
            <p:nvPr/>
          </p:nvSpPr>
          <p:spPr>
            <a:xfrm>
              <a:off x="7708488" y="4136629"/>
              <a:ext cx="1111046" cy="314754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689D53-3595-D8DF-E306-13921CCF7ED7}"/>
              </a:ext>
            </a:extLst>
          </p:cNvPr>
          <p:cNvCxnSpPr>
            <a:cxnSpLocks/>
          </p:cNvCxnSpPr>
          <p:nvPr/>
        </p:nvCxnSpPr>
        <p:spPr>
          <a:xfrm>
            <a:off x="6409085" y="3987125"/>
            <a:ext cx="0" cy="819775"/>
          </a:xfrm>
          <a:prstGeom prst="straightConnector1">
            <a:avLst/>
          </a:prstGeom>
          <a:ln w="53975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987382" y="4818735"/>
            <a:ext cx="3253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&amp; RETREIVE DATA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17B9064-9AD6-74AD-2BD0-D62529E6E066}"/>
              </a:ext>
            </a:extLst>
          </p:cNvPr>
          <p:cNvCxnSpPr>
            <a:cxnSpLocks/>
          </p:cNvCxnSpPr>
          <p:nvPr/>
        </p:nvCxnSpPr>
        <p:spPr>
          <a:xfrm flipH="1">
            <a:off x="6434805" y="5238948"/>
            <a:ext cx="4918" cy="502241"/>
          </a:xfrm>
          <a:prstGeom prst="straightConnector1">
            <a:avLst/>
          </a:prstGeom>
          <a:ln w="53975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12741" y="428119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C22A1DD-C5C3-87A8-D14E-09EBEE2C2A38}"/>
              </a:ext>
            </a:extLst>
          </p:cNvPr>
          <p:cNvGrpSpPr/>
          <p:nvPr/>
        </p:nvGrpSpPr>
        <p:grpSpPr>
          <a:xfrm>
            <a:off x="5493338" y="5887020"/>
            <a:ext cx="2015613" cy="840659"/>
            <a:chOff x="4699818" y="5565057"/>
            <a:chExt cx="2015613" cy="840659"/>
          </a:xfrm>
          <a:solidFill>
            <a:srgbClr val="3683B8"/>
          </a:solidFill>
        </p:grpSpPr>
        <p:sp>
          <p:nvSpPr>
            <p:cNvPr id="47" name="Flowchart: Magnetic Disk 46">
              <a:extLst>
                <a:ext uri="{FF2B5EF4-FFF2-40B4-BE49-F238E27FC236}">
                  <a16:creationId xmlns:a16="http://schemas.microsoft.com/office/drawing/2014/main" id="{E64D37B8-E93F-34F5-8A15-B2F3FDA32E76}"/>
                </a:ext>
              </a:extLst>
            </p:cNvPr>
            <p:cNvSpPr/>
            <p:nvPr/>
          </p:nvSpPr>
          <p:spPr>
            <a:xfrm>
              <a:off x="4699818" y="5766619"/>
              <a:ext cx="2015613" cy="639097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DOCUMENT DATABASE</a:t>
              </a:r>
            </a:p>
          </p:txBody>
        </p:sp>
        <p:sp>
          <p:nvSpPr>
            <p:cNvPr id="52" name="Flowchart: Magnetic Disk 51">
              <a:extLst>
                <a:ext uri="{FF2B5EF4-FFF2-40B4-BE49-F238E27FC236}">
                  <a16:creationId xmlns:a16="http://schemas.microsoft.com/office/drawing/2014/main" id="{00D782AE-FF40-81F9-7A74-8D7B63366FAE}"/>
                </a:ext>
              </a:extLst>
            </p:cNvPr>
            <p:cNvSpPr/>
            <p:nvPr/>
          </p:nvSpPr>
          <p:spPr>
            <a:xfrm>
              <a:off x="4928418" y="5565057"/>
              <a:ext cx="1558412" cy="403123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DOCUMENT</a:t>
              </a: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82A7187-32DC-E920-CD8C-5703458A568E}"/>
              </a:ext>
            </a:extLst>
          </p:cNvPr>
          <p:cNvCxnSpPr>
            <a:cxnSpLocks/>
          </p:cNvCxnSpPr>
          <p:nvPr/>
        </p:nvCxnSpPr>
        <p:spPr>
          <a:xfrm>
            <a:off x="7678994" y="6391076"/>
            <a:ext cx="963562" cy="0"/>
          </a:xfrm>
          <a:prstGeom prst="straightConnector1">
            <a:avLst/>
          </a:prstGeom>
          <a:ln w="47625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3D6B05D-3358-08CB-347D-2DB70FF41D86}"/>
              </a:ext>
            </a:extLst>
          </p:cNvPr>
          <p:cNvCxnSpPr>
            <a:cxnSpLocks/>
          </p:cNvCxnSpPr>
          <p:nvPr/>
        </p:nvCxnSpPr>
        <p:spPr>
          <a:xfrm>
            <a:off x="4354612" y="6391076"/>
            <a:ext cx="963562" cy="0"/>
          </a:xfrm>
          <a:prstGeom prst="straightConnector1">
            <a:avLst/>
          </a:prstGeom>
          <a:ln w="47625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rrow: Right 38">
            <a:extLst>
              <a:ext uri="{FF2B5EF4-FFF2-40B4-BE49-F238E27FC236}">
                <a16:creationId xmlns:a16="http://schemas.microsoft.com/office/drawing/2014/main" id="{A16BDADA-C1AC-06FD-9779-C5A217FD4175}"/>
              </a:ext>
            </a:extLst>
          </p:cNvPr>
          <p:cNvSpPr/>
          <p:nvPr/>
        </p:nvSpPr>
        <p:spPr>
          <a:xfrm>
            <a:off x="1148840" y="6319068"/>
            <a:ext cx="507717" cy="8790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934966" y="6160242"/>
            <a:ext cx="2112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NOTIFICATIONS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704703" y="6160243"/>
            <a:ext cx="3510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NOTIFICATIONS &amp; RESULTS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00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32851" y="543864"/>
            <a:ext cx="40639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ER DIAGRAM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00159" y="612913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C646C63-8859-1380-5C73-B8FFC539E197}"/>
              </a:ext>
            </a:extLst>
          </p:cNvPr>
          <p:cNvGrpSpPr/>
          <p:nvPr/>
        </p:nvGrpSpPr>
        <p:grpSpPr>
          <a:xfrm>
            <a:off x="558972" y="1846213"/>
            <a:ext cx="1957137" cy="1345398"/>
            <a:chOff x="1416518" y="1656080"/>
            <a:chExt cx="1957137" cy="1345398"/>
          </a:xfrm>
          <a:noFill/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8FCCB45-9B89-CEF3-C028-0A157A991312}"/>
                </a:ext>
              </a:extLst>
            </p:cNvPr>
            <p:cNvSpPr/>
            <p:nvPr/>
          </p:nvSpPr>
          <p:spPr>
            <a:xfrm>
              <a:off x="1416518" y="1974783"/>
              <a:ext cx="1957137" cy="102669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1A82B00-4CAF-4159-39DA-1BC3D2A9AAD0}"/>
                </a:ext>
              </a:extLst>
            </p:cNvPr>
            <p:cNvSpPr/>
            <p:nvPr/>
          </p:nvSpPr>
          <p:spPr>
            <a:xfrm>
              <a:off x="1416518" y="1656080"/>
              <a:ext cx="1957137" cy="31870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63F392-AE2C-B03A-96C7-F4E3358F4AF0}"/>
                </a:ext>
              </a:extLst>
            </p:cNvPr>
            <p:cNvSpPr txBox="1"/>
            <p:nvPr/>
          </p:nvSpPr>
          <p:spPr>
            <a:xfrm>
              <a:off x="1510898" y="2072632"/>
              <a:ext cx="1768375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User_id</a:t>
              </a:r>
              <a:endParaRPr lang="en-IN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Username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latin typeface="+mj-lt"/>
                  <a:cs typeface="Arial" panose="020B0604020202020204" pitchFamily="34" charset="0"/>
                </a:rPr>
                <a:t>email</a:t>
              </a:r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F698035-92C3-1EF0-9977-D059D44A4E19}"/>
              </a:ext>
            </a:extLst>
          </p:cNvPr>
          <p:cNvCxnSpPr>
            <a:stCxn id="58" idx="1"/>
          </p:cNvCxnSpPr>
          <p:nvPr/>
        </p:nvCxnSpPr>
        <p:spPr>
          <a:xfrm flipH="1">
            <a:off x="2516109" y="2593449"/>
            <a:ext cx="4320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Diamond 57">
            <a:extLst>
              <a:ext uri="{FF2B5EF4-FFF2-40B4-BE49-F238E27FC236}">
                <a16:creationId xmlns:a16="http://schemas.microsoft.com/office/drawing/2014/main" id="{16BB571F-487E-7785-4E15-DAE19B0CBAAD}"/>
              </a:ext>
            </a:extLst>
          </p:cNvPr>
          <p:cNvSpPr/>
          <p:nvPr/>
        </p:nvSpPr>
        <p:spPr>
          <a:xfrm>
            <a:off x="2948157" y="2254137"/>
            <a:ext cx="2121564" cy="678624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uploads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B28E7BA-2F1E-660A-CA74-AD9BD7473F67}"/>
              </a:ext>
            </a:extLst>
          </p:cNvPr>
          <p:cNvSpPr/>
          <p:nvPr/>
        </p:nvSpPr>
        <p:spPr>
          <a:xfrm>
            <a:off x="5494722" y="2399523"/>
            <a:ext cx="2061947" cy="3655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DOCUMENT</a:t>
            </a: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AA91035E-A707-1813-E259-C9EF32E714B2}"/>
              </a:ext>
            </a:extLst>
          </p:cNvPr>
          <p:cNvSpPr/>
          <p:nvPr/>
        </p:nvSpPr>
        <p:spPr>
          <a:xfrm>
            <a:off x="7981161" y="2299702"/>
            <a:ext cx="1834577" cy="531869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reviews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D6F238-EC81-5982-87A5-835A5FF194D9}"/>
              </a:ext>
            </a:extLst>
          </p:cNvPr>
          <p:cNvGrpSpPr/>
          <p:nvPr/>
        </p:nvGrpSpPr>
        <p:grpSpPr>
          <a:xfrm>
            <a:off x="10220965" y="1895467"/>
            <a:ext cx="1957137" cy="1345398"/>
            <a:chOff x="1416518" y="1656080"/>
            <a:chExt cx="1957137" cy="1345398"/>
          </a:xfrm>
          <a:noFill/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4970B08-6C52-8242-438F-87898F5B31BF}"/>
                </a:ext>
              </a:extLst>
            </p:cNvPr>
            <p:cNvSpPr/>
            <p:nvPr/>
          </p:nvSpPr>
          <p:spPr>
            <a:xfrm>
              <a:off x="1416518" y="1974783"/>
              <a:ext cx="1957137" cy="102669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C38F885-E231-6082-63EE-5F83F8DBB66B}"/>
                </a:ext>
              </a:extLst>
            </p:cNvPr>
            <p:cNvSpPr/>
            <p:nvPr/>
          </p:nvSpPr>
          <p:spPr>
            <a:xfrm>
              <a:off x="1416518" y="1656080"/>
              <a:ext cx="1957137" cy="31870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ADMINS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CEA6783-530B-8B48-63C5-C0A8CB9436C3}"/>
                </a:ext>
              </a:extLst>
            </p:cNvPr>
            <p:cNvSpPr txBox="1"/>
            <p:nvPr/>
          </p:nvSpPr>
          <p:spPr>
            <a:xfrm>
              <a:off x="1504494" y="2072631"/>
              <a:ext cx="1768375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admin_id</a:t>
              </a:r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username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email</a:t>
              </a:r>
            </a:p>
          </p:txBody>
        </p:sp>
      </p:grpSp>
      <p:sp>
        <p:nvSpPr>
          <p:cNvPr id="67" name="Diamond 66">
            <a:extLst>
              <a:ext uri="{FF2B5EF4-FFF2-40B4-BE49-F238E27FC236}">
                <a16:creationId xmlns:a16="http://schemas.microsoft.com/office/drawing/2014/main" id="{5C9B3D2D-B079-2BBE-AF6E-7170809BA429}"/>
              </a:ext>
            </a:extLst>
          </p:cNvPr>
          <p:cNvSpPr/>
          <p:nvPr/>
        </p:nvSpPr>
        <p:spPr>
          <a:xfrm>
            <a:off x="5693914" y="3263619"/>
            <a:ext cx="1862755" cy="60824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Doc_id</a:t>
            </a:r>
            <a:endParaRPr lang="en-IN" sz="1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F62E215-06BC-B463-95E6-B49594F9BC55}"/>
              </a:ext>
            </a:extLst>
          </p:cNvPr>
          <p:cNvGrpSpPr/>
          <p:nvPr/>
        </p:nvGrpSpPr>
        <p:grpSpPr>
          <a:xfrm>
            <a:off x="5691897" y="4415747"/>
            <a:ext cx="1957137" cy="1345398"/>
            <a:chOff x="1416518" y="1656080"/>
            <a:chExt cx="1957137" cy="1345398"/>
          </a:xfrm>
          <a:noFill/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E52768A-C95B-69FC-122A-AF94F23AA8D4}"/>
                </a:ext>
              </a:extLst>
            </p:cNvPr>
            <p:cNvSpPr/>
            <p:nvPr/>
          </p:nvSpPr>
          <p:spPr>
            <a:xfrm>
              <a:off x="1416518" y="1974783"/>
              <a:ext cx="1957137" cy="102669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7F94537-02EC-6872-ACEC-D1820B9F34B3}"/>
                </a:ext>
              </a:extLst>
            </p:cNvPr>
            <p:cNvSpPr/>
            <p:nvPr/>
          </p:nvSpPr>
          <p:spPr>
            <a:xfrm>
              <a:off x="1416518" y="1656080"/>
              <a:ext cx="1957137" cy="31870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3F061E4-7843-149E-ADEC-E9919DE2F18B}"/>
                </a:ext>
              </a:extLst>
            </p:cNvPr>
            <p:cNvSpPr txBox="1"/>
            <p:nvPr/>
          </p:nvSpPr>
          <p:spPr>
            <a:xfrm>
              <a:off x="1510898" y="2072632"/>
              <a:ext cx="1768375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detection_id</a:t>
              </a:r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user_id</a:t>
              </a:r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file_name</a:t>
              </a:r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2CCD9CD-F571-3535-1496-0A066E2F7F24}"/>
              </a:ext>
            </a:extLst>
          </p:cNvPr>
          <p:cNvGrpSpPr/>
          <p:nvPr/>
        </p:nvGrpSpPr>
        <p:grpSpPr>
          <a:xfrm>
            <a:off x="7981161" y="5914405"/>
            <a:ext cx="2061947" cy="1055570"/>
            <a:chOff x="5080532" y="4826129"/>
            <a:chExt cx="2061947" cy="1055570"/>
          </a:xfrm>
          <a:solidFill>
            <a:srgbClr val="0070C0"/>
          </a:solidFill>
        </p:grpSpPr>
        <p:sp>
          <p:nvSpPr>
            <p:cNvPr id="77" name="Flowchart: Magnetic Disk 76">
              <a:extLst>
                <a:ext uri="{FF2B5EF4-FFF2-40B4-BE49-F238E27FC236}">
                  <a16:creationId xmlns:a16="http://schemas.microsoft.com/office/drawing/2014/main" id="{549372C4-F3FE-E081-E2EC-EAD16CEEBF8A}"/>
                </a:ext>
              </a:extLst>
            </p:cNvPr>
            <p:cNvSpPr/>
            <p:nvPr/>
          </p:nvSpPr>
          <p:spPr>
            <a:xfrm>
              <a:off x="5080532" y="5099379"/>
              <a:ext cx="2061947" cy="782320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DATABASE</a:t>
              </a:r>
            </a:p>
          </p:txBody>
        </p:sp>
        <p:sp>
          <p:nvSpPr>
            <p:cNvPr id="78" name="Flowchart: Magnetic Disk 77">
              <a:extLst>
                <a:ext uri="{FF2B5EF4-FFF2-40B4-BE49-F238E27FC236}">
                  <a16:creationId xmlns:a16="http://schemas.microsoft.com/office/drawing/2014/main" id="{913DE331-66C4-134A-4198-CA661B11529E}"/>
                </a:ext>
              </a:extLst>
            </p:cNvPr>
            <p:cNvSpPr/>
            <p:nvPr/>
          </p:nvSpPr>
          <p:spPr>
            <a:xfrm>
              <a:off x="5080532" y="4826129"/>
              <a:ext cx="1717040" cy="566561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DOCUMENT</a:t>
              </a:r>
            </a:p>
          </p:txBody>
        </p:sp>
      </p:grpSp>
      <p:sp>
        <p:nvSpPr>
          <p:cNvPr id="79" name="Diamond 78">
            <a:extLst>
              <a:ext uri="{FF2B5EF4-FFF2-40B4-BE49-F238E27FC236}">
                <a16:creationId xmlns:a16="http://schemas.microsoft.com/office/drawing/2014/main" id="{F9D9551E-962B-A529-DD6E-889170D69B92}"/>
              </a:ext>
            </a:extLst>
          </p:cNvPr>
          <p:cNvSpPr/>
          <p:nvPr/>
        </p:nvSpPr>
        <p:spPr>
          <a:xfrm>
            <a:off x="4558618" y="6244086"/>
            <a:ext cx="2061947" cy="60824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Analyzes</a:t>
            </a:r>
            <a:endParaRPr lang="en-IN" sz="1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17DF7F0-3F89-9444-C62D-36345973AE2D}"/>
              </a:ext>
            </a:extLst>
          </p:cNvPr>
          <p:cNvGrpSpPr/>
          <p:nvPr/>
        </p:nvGrpSpPr>
        <p:grpSpPr>
          <a:xfrm>
            <a:off x="1783108" y="5506934"/>
            <a:ext cx="1957137" cy="1345398"/>
            <a:chOff x="1416518" y="1656080"/>
            <a:chExt cx="1957137" cy="1345398"/>
          </a:xfrm>
          <a:noFill/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A80444F-5184-AF98-33D8-A13545D5DE5A}"/>
                </a:ext>
              </a:extLst>
            </p:cNvPr>
            <p:cNvSpPr/>
            <p:nvPr/>
          </p:nvSpPr>
          <p:spPr>
            <a:xfrm>
              <a:off x="1416518" y="1974783"/>
              <a:ext cx="1957137" cy="102669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AB15A07-B59D-6820-B465-038B86C45F42}"/>
                </a:ext>
              </a:extLst>
            </p:cNvPr>
            <p:cNvSpPr/>
            <p:nvPr/>
          </p:nvSpPr>
          <p:spPr>
            <a:xfrm>
              <a:off x="1416518" y="1656080"/>
              <a:ext cx="1957137" cy="31870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51099EA-66ED-46C7-2783-75FCB2DC1F5A}"/>
                </a:ext>
              </a:extLst>
            </p:cNvPr>
            <p:cNvSpPr txBox="1"/>
            <p:nvPr/>
          </p:nvSpPr>
          <p:spPr>
            <a:xfrm>
              <a:off x="1510898" y="2072632"/>
              <a:ext cx="1768375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detection_id</a:t>
              </a:r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document_id</a:t>
              </a:r>
              <a:endPara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result</a:t>
              </a:r>
            </a:p>
          </p:txBody>
        </p:sp>
      </p:grp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625F719-C250-F819-8452-BD9E455542DF}"/>
              </a:ext>
            </a:extLst>
          </p:cNvPr>
          <p:cNvCxnSpPr>
            <a:cxnSpLocks/>
          </p:cNvCxnSpPr>
          <p:nvPr/>
        </p:nvCxnSpPr>
        <p:spPr>
          <a:xfrm>
            <a:off x="5112893" y="2593449"/>
            <a:ext cx="3555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F566CB5-E804-4628-E5DC-77559C87070F}"/>
              </a:ext>
            </a:extLst>
          </p:cNvPr>
          <p:cNvCxnSpPr/>
          <p:nvPr/>
        </p:nvCxnSpPr>
        <p:spPr>
          <a:xfrm flipH="1" flipV="1">
            <a:off x="6839102" y="6539585"/>
            <a:ext cx="809932" cy="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F566CB5-E804-4628-E5DC-77559C87070F}"/>
              </a:ext>
            </a:extLst>
          </p:cNvPr>
          <p:cNvCxnSpPr/>
          <p:nvPr/>
        </p:nvCxnSpPr>
        <p:spPr>
          <a:xfrm flipH="1">
            <a:off x="7556670" y="2568186"/>
            <a:ext cx="360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20D6B85-D1E2-A50A-F328-05FE9A33C73E}"/>
              </a:ext>
            </a:extLst>
          </p:cNvPr>
          <p:cNvCxnSpPr/>
          <p:nvPr/>
        </p:nvCxnSpPr>
        <p:spPr>
          <a:xfrm flipH="1">
            <a:off x="6612133" y="2831139"/>
            <a:ext cx="1" cy="359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F698035-92C3-1EF0-9977-D059D44A4E19}"/>
              </a:ext>
            </a:extLst>
          </p:cNvPr>
          <p:cNvCxnSpPr/>
          <p:nvPr/>
        </p:nvCxnSpPr>
        <p:spPr>
          <a:xfrm flipH="1">
            <a:off x="9815738" y="2577956"/>
            <a:ext cx="4320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20D6B85-D1E2-A50A-F328-05FE9A33C73E}"/>
              </a:ext>
            </a:extLst>
          </p:cNvPr>
          <p:cNvCxnSpPr/>
          <p:nvPr/>
        </p:nvCxnSpPr>
        <p:spPr>
          <a:xfrm flipH="1">
            <a:off x="6620564" y="3926499"/>
            <a:ext cx="1" cy="359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20D6B85-D1E2-A50A-F328-05FE9A33C73E}"/>
              </a:ext>
            </a:extLst>
          </p:cNvPr>
          <p:cNvCxnSpPr/>
          <p:nvPr/>
        </p:nvCxnSpPr>
        <p:spPr>
          <a:xfrm>
            <a:off x="7791405" y="5466083"/>
            <a:ext cx="436005" cy="359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F698035-92C3-1EF0-9977-D059D44A4E19}"/>
              </a:ext>
            </a:extLst>
          </p:cNvPr>
          <p:cNvCxnSpPr/>
          <p:nvPr/>
        </p:nvCxnSpPr>
        <p:spPr>
          <a:xfrm flipH="1">
            <a:off x="3755352" y="6539585"/>
            <a:ext cx="776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8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744789" y="99047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Graphic 28" descr="Female Profile with solid fill">
            <a:extLst>
              <a:ext uri="{FF2B5EF4-FFF2-40B4-BE49-F238E27FC236}">
                <a16:creationId xmlns:a16="http://schemas.microsoft.com/office/drawing/2014/main" id="{F8D1677D-A9C4-6D15-04CF-CE7B19940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389" y="3329378"/>
            <a:ext cx="1405514" cy="140551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BF6126F-31F8-0B48-F833-747C48A80B8A}"/>
              </a:ext>
            </a:extLst>
          </p:cNvPr>
          <p:cNvSpPr/>
          <p:nvPr/>
        </p:nvSpPr>
        <p:spPr>
          <a:xfrm>
            <a:off x="2881408" y="1783830"/>
            <a:ext cx="2315124" cy="115810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UPLOAD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395" y="574977"/>
            <a:ext cx="60147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USECASE DIAGRAM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00973" y="372678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36F2E0-EB6C-6596-395E-75994F94610A}"/>
              </a:ext>
            </a:extLst>
          </p:cNvPr>
          <p:cNvSpPr/>
          <p:nvPr/>
        </p:nvSpPr>
        <p:spPr>
          <a:xfrm>
            <a:off x="2889860" y="3329378"/>
            <a:ext cx="2270410" cy="11874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81408" y="3381540"/>
            <a:ext cx="2287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 NOTIFICATIONS</a:t>
            </a:r>
          </a:p>
          <a:p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336F2E0-EB6C-6596-395E-75994F94610A}"/>
              </a:ext>
            </a:extLst>
          </p:cNvPr>
          <p:cNvSpPr/>
          <p:nvPr/>
        </p:nvSpPr>
        <p:spPr>
          <a:xfrm>
            <a:off x="2851412" y="4734892"/>
            <a:ext cx="2261484" cy="12551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05399" y="4930663"/>
            <a:ext cx="25961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VIEW ANALYSIS RESULTS</a:t>
            </a:r>
          </a:p>
          <a:p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829221" y="227549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2ABA71-A1C3-A986-F7D3-782AF5BC985A}"/>
              </a:ext>
            </a:extLst>
          </p:cNvPr>
          <p:cNvSpPr txBox="1"/>
          <p:nvPr/>
        </p:nvSpPr>
        <p:spPr>
          <a:xfrm>
            <a:off x="5400973" y="3096570"/>
            <a:ext cx="2016224" cy="1569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FAKE DOCUMENT DETECTION SYSTEM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90EF9C-E68B-ACEF-464D-223161B39100}"/>
              </a:ext>
            </a:extLst>
          </p:cNvPr>
          <p:cNvCxnSpPr>
            <a:cxnSpLocks/>
          </p:cNvCxnSpPr>
          <p:nvPr/>
        </p:nvCxnSpPr>
        <p:spPr>
          <a:xfrm flipV="1">
            <a:off x="1368525" y="2763046"/>
            <a:ext cx="1151691" cy="667048"/>
          </a:xfrm>
          <a:prstGeom prst="straightConnector1">
            <a:avLst/>
          </a:prstGeom>
          <a:ln w="44450">
            <a:solidFill>
              <a:schemeClr val="accent1">
                <a:lumMod val="1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90EF9C-E68B-ACEF-464D-223161B39100}"/>
              </a:ext>
            </a:extLst>
          </p:cNvPr>
          <p:cNvCxnSpPr>
            <a:cxnSpLocks/>
          </p:cNvCxnSpPr>
          <p:nvPr/>
        </p:nvCxnSpPr>
        <p:spPr>
          <a:xfrm>
            <a:off x="1427388" y="3941119"/>
            <a:ext cx="1368867" cy="0"/>
          </a:xfrm>
          <a:prstGeom prst="straightConnector1">
            <a:avLst/>
          </a:prstGeom>
          <a:ln w="44450">
            <a:solidFill>
              <a:schemeClr val="accent1">
                <a:lumMod val="1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90EF9C-E68B-ACEF-464D-223161B39100}"/>
              </a:ext>
            </a:extLst>
          </p:cNvPr>
          <p:cNvCxnSpPr>
            <a:cxnSpLocks/>
          </p:cNvCxnSpPr>
          <p:nvPr/>
        </p:nvCxnSpPr>
        <p:spPr>
          <a:xfrm>
            <a:off x="1427388" y="4471568"/>
            <a:ext cx="1165273" cy="551356"/>
          </a:xfrm>
          <a:prstGeom prst="straightConnector1">
            <a:avLst/>
          </a:prstGeom>
          <a:ln w="44450">
            <a:solidFill>
              <a:schemeClr val="accent1">
                <a:lumMod val="1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77437" y="1681747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DDB0697-321D-614D-B2CC-0EB9C2FED896}"/>
              </a:ext>
            </a:extLst>
          </p:cNvPr>
          <p:cNvSpPr/>
          <p:nvPr/>
        </p:nvSpPr>
        <p:spPr>
          <a:xfrm>
            <a:off x="7746775" y="2143412"/>
            <a:ext cx="2195515" cy="113555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DDB0697-321D-614D-B2CC-0EB9C2FED896}"/>
              </a:ext>
            </a:extLst>
          </p:cNvPr>
          <p:cNvSpPr/>
          <p:nvPr/>
        </p:nvSpPr>
        <p:spPr>
          <a:xfrm>
            <a:off x="7829221" y="4702400"/>
            <a:ext cx="2250126" cy="105627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7746775" y="2506325"/>
            <a:ext cx="23124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REVIEW RESULT</a:t>
            </a:r>
          </a:p>
          <a:p>
            <a:endParaRPr lang="en-IN" dirty="0"/>
          </a:p>
        </p:txBody>
      </p:sp>
      <p:pic>
        <p:nvPicPr>
          <p:cNvPr id="49" name="Graphic 30" descr="User with solid fill">
            <a:extLst>
              <a:ext uri="{FF2B5EF4-FFF2-40B4-BE49-F238E27FC236}">
                <a16:creationId xmlns:a16="http://schemas.microsoft.com/office/drawing/2014/main" id="{54004596-BF24-E647-617F-48C156C21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08227" y="3257370"/>
            <a:ext cx="1405514" cy="140551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798372" y="4946961"/>
            <a:ext cx="2626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USERS</a:t>
            </a:r>
          </a:p>
          <a:p>
            <a:endParaRPr lang="en-I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D6A1104-3706-3FE8-2310-8BAC8A48775A}"/>
              </a:ext>
            </a:extLst>
          </p:cNvPr>
          <p:cNvCxnSpPr>
            <a:cxnSpLocks/>
          </p:cNvCxnSpPr>
          <p:nvPr/>
        </p:nvCxnSpPr>
        <p:spPr>
          <a:xfrm flipH="1" flipV="1">
            <a:off x="10079347" y="3096572"/>
            <a:ext cx="938250" cy="558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02BF187-D97E-23D7-DE6C-87A6956C8A9C}"/>
              </a:ext>
            </a:extLst>
          </p:cNvPr>
          <p:cNvCxnSpPr>
            <a:cxnSpLocks/>
          </p:cNvCxnSpPr>
          <p:nvPr/>
        </p:nvCxnSpPr>
        <p:spPr>
          <a:xfrm flipH="1">
            <a:off x="9942291" y="4374852"/>
            <a:ext cx="965936" cy="4702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38407" y="453804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User</a:t>
            </a:r>
            <a:endParaRPr lang="en-IN" sz="1800" dirty="0"/>
          </a:p>
        </p:txBody>
      </p:sp>
      <p:sp>
        <p:nvSpPr>
          <p:cNvPr id="62" name="TextBox 61"/>
          <p:cNvSpPr txBox="1"/>
          <p:nvPr/>
        </p:nvSpPr>
        <p:spPr>
          <a:xfrm>
            <a:off x="11214709" y="4492040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Admin</a:t>
            </a:r>
            <a:endParaRPr lang="en-IN" sz="1800" dirty="0"/>
          </a:p>
        </p:txBody>
      </p:sp>
      <p:sp>
        <p:nvSpPr>
          <p:cNvPr id="5" name="Rectangle 4"/>
          <p:cNvSpPr/>
          <p:nvPr/>
        </p:nvSpPr>
        <p:spPr>
          <a:xfrm>
            <a:off x="2520216" y="1681747"/>
            <a:ext cx="7905043" cy="4565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809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9356" y="561763"/>
            <a:ext cx="8485919" cy="86153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ALGORITHM USED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28565" y="2171928"/>
            <a:ext cx="9433048" cy="2546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GAN Training Algorithm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CNN based classification Algorithm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Image processing Algorithm</a:t>
            </a:r>
          </a:p>
        </p:txBody>
      </p:sp>
    </p:spTree>
    <p:extLst>
      <p:ext uri="{BB962C8B-B14F-4D97-AF65-F5344CB8AC3E}">
        <p14:creationId xmlns:p14="http://schemas.microsoft.com/office/powerpoint/2010/main" val="194075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9356" y="561763"/>
            <a:ext cx="8485919" cy="86153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TECHNIQUE  USED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84549" y="1854572"/>
            <a:ext cx="6408712" cy="3408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Image Preprocessing -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O(N)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Edge Detection -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O(N)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CNN-Based Classification -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O(n2⋅d)</a:t>
            </a:r>
          </a:p>
          <a:p>
            <a:pPr>
              <a:lnSpc>
                <a:spcPct val="200000"/>
              </a:lnSpc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67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837200-1564-35F8-2E92-FA4FC48D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175" y="6531337"/>
            <a:ext cx="2923698" cy="373830"/>
          </a:xfrm>
        </p:spPr>
        <p:txBody>
          <a:bodyPr/>
          <a:lstStyle/>
          <a:p>
            <a:fld id="{0A80F415-F0C1-4435-939E-1925BA790F95}" type="slidenum">
              <a:rPr lang="en-IN" smtClean="0"/>
              <a:t>13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681DC-4494-1110-1841-7BA8A8FCFECE}"/>
              </a:ext>
            </a:extLst>
          </p:cNvPr>
          <p:cNvSpPr txBox="1"/>
          <p:nvPr/>
        </p:nvSpPr>
        <p:spPr>
          <a:xfrm>
            <a:off x="720453" y="718858"/>
            <a:ext cx="1161522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err="1"/>
              <a:t>DocVerify</a:t>
            </a:r>
            <a:r>
              <a:rPr lang="en-IN" sz="1100" dirty="0"/>
              <a:t> AI — Complete Backend</a:t>
            </a:r>
          </a:p>
          <a:p>
            <a:r>
              <a:rPr lang="en-IN" sz="1100" dirty="0"/>
              <a:t>================================</a:t>
            </a:r>
          </a:p>
          <a:p>
            <a:r>
              <a:rPr lang="en-IN" sz="1100" dirty="0"/>
              <a:t>Full Flask app with:</a:t>
            </a:r>
          </a:p>
          <a:p>
            <a:r>
              <a:rPr lang="en-IN" sz="1100" dirty="0"/>
              <a:t>  - SQLite database (users + scan history)</a:t>
            </a:r>
          </a:p>
          <a:p>
            <a:r>
              <a:rPr lang="en-IN" sz="1100" dirty="0"/>
              <a:t>  - User auth (register / login / logout)</a:t>
            </a:r>
          </a:p>
          <a:p>
            <a:r>
              <a:rPr lang="en-IN" sz="1100" dirty="0"/>
              <a:t>  - CNN model inference (real vs fake)</a:t>
            </a:r>
          </a:p>
          <a:p>
            <a:r>
              <a:rPr lang="en-IN" sz="1100" dirty="0"/>
              <a:t>  - File upload + camera capture</a:t>
            </a:r>
          </a:p>
          <a:p>
            <a:r>
              <a:rPr lang="en-IN" sz="1100" dirty="0"/>
              <a:t>  - Profile management</a:t>
            </a:r>
          </a:p>
          <a:p>
            <a:r>
              <a:rPr lang="en-IN" sz="1100" dirty="0"/>
              <a:t>  - Scan history with pagination</a:t>
            </a:r>
          </a:p>
          <a:p>
            <a:r>
              <a:rPr lang="en-IN" sz="1100" dirty="0"/>
              <a:t>  - All routes connected to frontend templates</a:t>
            </a:r>
          </a:p>
          <a:p>
            <a:r>
              <a:rPr lang="en-IN" sz="1100" dirty="0"/>
              <a:t>import </a:t>
            </a:r>
            <a:r>
              <a:rPr lang="en-IN" sz="1100" dirty="0" err="1"/>
              <a:t>os</a:t>
            </a:r>
            <a:endParaRPr lang="en-IN" sz="1100" dirty="0"/>
          </a:p>
          <a:p>
            <a:r>
              <a:rPr lang="en-IN" sz="1100" dirty="0"/>
              <a:t>import </a:t>
            </a:r>
            <a:r>
              <a:rPr lang="en-IN" sz="1100" dirty="0" err="1"/>
              <a:t>json</a:t>
            </a:r>
            <a:endParaRPr lang="en-IN" sz="1100" dirty="0"/>
          </a:p>
          <a:p>
            <a:r>
              <a:rPr lang="en-IN" sz="1100" dirty="0"/>
              <a:t>import secrets</a:t>
            </a:r>
          </a:p>
          <a:p>
            <a:r>
              <a:rPr lang="en-IN" sz="1100" dirty="0"/>
              <a:t>import base64</a:t>
            </a:r>
          </a:p>
          <a:p>
            <a:r>
              <a:rPr lang="en-IN" sz="1100" dirty="0"/>
              <a:t>import re</a:t>
            </a:r>
          </a:p>
          <a:p>
            <a:r>
              <a:rPr lang="en-IN" sz="1100" dirty="0"/>
              <a:t>import </a:t>
            </a:r>
            <a:r>
              <a:rPr lang="en-IN" sz="1100" dirty="0" err="1"/>
              <a:t>numpy</a:t>
            </a:r>
            <a:r>
              <a:rPr lang="en-IN" sz="1100" dirty="0"/>
              <a:t> as np</a:t>
            </a:r>
          </a:p>
          <a:p>
            <a:r>
              <a:rPr lang="en-IN" sz="1100" dirty="0"/>
              <a:t>from datetime import datetime</a:t>
            </a:r>
          </a:p>
          <a:p>
            <a:r>
              <a:rPr lang="en-IN" sz="1100" dirty="0"/>
              <a:t>from </a:t>
            </a:r>
            <a:r>
              <a:rPr lang="en-IN" sz="1100" dirty="0" err="1"/>
              <a:t>functools</a:t>
            </a:r>
            <a:r>
              <a:rPr lang="en-IN" sz="1100" dirty="0"/>
              <a:t> import wraps</a:t>
            </a:r>
          </a:p>
          <a:p>
            <a:r>
              <a:rPr lang="en-IN" sz="1100" dirty="0"/>
              <a:t>from flask import (</a:t>
            </a:r>
          </a:p>
          <a:p>
            <a:r>
              <a:rPr lang="en-IN" sz="1100" dirty="0"/>
              <a:t>    Flask, </a:t>
            </a:r>
            <a:r>
              <a:rPr lang="en-IN" sz="1100" dirty="0" err="1"/>
              <a:t>render_template</a:t>
            </a:r>
            <a:r>
              <a:rPr lang="en-IN" sz="1100" dirty="0"/>
              <a:t>, request,</a:t>
            </a:r>
          </a:p>
          <a:p>
            <a:r>
              <a:rPr lang="en-IN" sz="1100" dirty="0"/>
              <a:t>    redirect, </a:t>
            </a:r>
            <a:r>
              <a:rPr lang="en-IN" sz="1100" dirty="0" err="1"/>
              <a:t>url_for</a:t>
            </a:r>
            <a:r>
              <a:rPr lang="en-IN" sz="1100" dirty="0"/>
              <a:t>, session, flash, </a:t>
            </a:r>
            <a:r>
              <a:rPr lang="en-IN" sz="1100" dirty="0" err="1"/>
              <a:t>jsonify</a:t>
            </a:r>
            <a:endParaRPr lang="en-IN" sz="1100" dirty="0"/>
          </a:p>
          <a:p>
            <a:r>
              <a:rPr lang="en-IN" sz="1100" dirty="0"/>
              <a:t>)</a:t>
            </a:r>
          </a:p>
          <a:p>
            <a:r>
              <a:rPr lang="en-IN" sz="1100" dirty="0"/>
              <a:t>from </a:t>
            </a:r>
            <a:r>
              <a:rPr lang="en-IN" sz="1100" dirty="0" err="1"/>
              <a:t>flask_sqlalchemy</a:t>
            </a:r>
            <a:r>
              <a:rPr lang="en-IN" sz="1100" dirty="0"/>
              <a:t> import </a:t>
            </a:r>
            <a:r>
              <a:rPr lang="en-IN" sz="1100" dirty="0" err="1"/>
              <a:t>SQLAlchemy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flask_bcrypt</a:t>
            </a:r>
            <a:r>
              <a:rPr lang="en-IN" sz="1100" dirty="0"/>
              <a:t> import </a:t>
            </a:r>
            <a:r>
              <a:rPr lang="en-IN" sz="1100" dirty="0" err="1"/>
              <a:t>Bcrypt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werkzeug.utils</a:t>
            </a:r>
            <a:r>
              <a:rPr lang="en-IN" sz="1100" dirty="0"/>
              <a:t> import </a:t>
            </a:r>
            <a:r>
              <a:rPr lang="en-IN" sz="1100" dirty="0" err="1"/>
              <a:t>secure_filename</a:t>
            </a:r>
            <a:endParaRPr lang="en-IN" sz="1100" dirty="0"/>
          </a:p>
          <a:p>
            <a:r>
              <a:rPr lang="en-IN" sz="1100" dirty="0"/>
              <a:t># ── Optional .env support </a:t>
            </a:r>
          </a:p>
          <a:p>
            <a:r>
              <a:rPr lang="en-IN" sz="1100" dirty="0"/>
              <a:t>try:</a:t>
            </a:r>
          </a:p>
          <a:p>
            <a:r>
              <a:rPr lang="en-IN" sz="1100" dirty="0"/>
              <a:t>    from </a:t>
            </a:r>
            <a:r>
              <a:rPr lang="en-IN" sz="1100" dirty="0" err="1"/>
              <a:t>dotenv</a:t>
            </a:r>
            <a:r>
              <a:rPr lang="en-IN" sz="1100" dirty="0"/>
              <a:t> import </a:t>
            </a:r>
            <a:r>
              <a:rPr lang="en-IN" sz="1100" dirty="0" err="1"/>
              <a:t>load_dotenv</a:t>
            </a:r>
            <a:endParaRPr lang="en-IN" sz="1100" dirty="0"/>
          </a:p>
          <a:p>
            <a:r>
              <a:rPr lang="en-IN" sz="1100" dirty="0"/>
              <a:t>    </a:t>
            </a:r>
            <a:r>
              <a:rPr lang="en-IN" sz="1100" dirty="0" err="1"/>
              <a:t>load_dotenv</a:t>
            </a:r>
            <a:r>
              <a:rPr lang="en-IN" sz="1100" dirty="0"/>
              <a:t>()</a:t>
            </a:r>
          </a:p>
          <a:p>
            <a:r>
              <a:rPr lang="en-IN" sz="1100" dirty="0"/>
              <a:t>except </a:t>
            </a:r>
            <a:r>
              <a:rPr lang="en-IN" sz="1100" dirty="0" err="1"/>
              <a:t>ImportError</a:t>
            </a:r>
            <a:r>
              <a:rPr lang="en-IN" sz="1100" dirty="0"/>
              <a:t>:</a:t>
            </a:r>
          </a:p>
          <a:p>
            <a:r>
              <a:rPr lang="en-IN" sz="1100" dirty="0"/>
              <a:t>    pass</a:t>
            </a:r>
          </a:p>
          <a:p>
            <a:r>
              <a:rPr lang="en-IN" sz="1100" dirty="0"/>
              <a:t># APP SETUP</a:t>
            </a:r>
          </a:p>
          <a:p>
            <a:r>
              <a:rPr lang="en-IN" sz="1100" dirty="0"/>
              <a:t>app = Flask(__name__)</a:t>
            </a:r>
          </a:p>
          <a:p>
            <a:r>
              <a:rPr lang="en-IN" sz="1100" dirty="0" err="1"/>
              <a:t>app.secret_key</a:t>
            </a:r>
            <a:r>
              <a:rPr lang="en-IN" sz="1100" dirty="0"/>
              <a:t> = </a:t>
            </a:r>
            <a:r>
              <a:rPr lang="en-IN" sz="1100" dirty="0" err="1"/>
              <a:t>os.environ.get</a:t>
            </a:r>
            <a:r>
              <a:rPr lang="en-IN" sz="1100" dirty="0"/>
              <a:t>("SECRET_KEY", </a:t>
            </a:r>
            <a:r>
              <a:rPr lang="en-IN" sz="1100" dirty="0" err="1"/>
              <a:t>secrets.token_hex</a:t>
            </a:r>
            <a:r>
              <a:rPr lang="en-IN" sz="1100" dirty="0"/>
              <a:t>(32))</a:t>
            </a:r>
          </a:p>
          <a:p>
            <a:r>
              <a:rPr lang="en-IN" sz="1100" dirty="0" err="1"/>
              <a:t>app.config</a:t>
            </a:r>
            <a:r>
              <a:rPr lang="en-IN" sz="1100" dirty="0"/>
              <a:t>["SQLALCHEMY_DATABASE_URI"]   = "</a:t>
            </a:r>
            <a:r>
              <a:rPr lang="en-IN" sz="1100" dirty="0" err="1"/>
              <a:t>sqlite</a:t>
            </a:r>
            <a:r>
              <a:rPr lang="en-IN" sz="1100" dirty="0"/>
              <a:t>:///</a:t>
            </a:r>
            <a:r>
              <a:rPr lang="en-IN" sz="1100" dirty="0" err="1"/>
              <a:t>docverify.db</a:t>
            </a:r>
            <a:r>
              <a:rPr lang="en-IN" sz="1100" dirty="0"/>
              <a:t>"</a:t>
            </a:r>
          </a:p>
          <a:p>
            <a:endParaRPr lang="en-IN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15E7F-6486-1D66-76CB-A70635D1CD66}"/>
              </a:ext>
            </a:extLst>
          </p:cNvPr>
          <p:cNvSpPr txBox="1"/>
          <p:nvPr/>
        </p:nvSpPr>
        <p:spPr>
          <a:xfrm>
            <a:off x="216397" y="252356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583140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2B2A96-7AF8-3870-431B-E75E2C1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14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0A29D-8F2B-59D2-4EE1-3C7E7F998C87}"/>
              </a:ext>
            </a:extLst>
          </p:cNvPr>
          <p:cNvSpPr txBox="1"/>
          <p:nvPr/>
        </p:nvSpPr>
        <p:spPr>
          <a:xfrm>
            <a:off x="653935" y="486420"/>
            <a:ext cx="113992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app.config</a:t>
            </a:r>
            <a:r>
              <a:rPr lang="en-IN" sz="1200" dirty="0"/>
              <a:t>["SQLALCHEMY_TRACK_MODIFICATIONS"] = False</a:t>
            </a:r>
          </a:p>
          <a:p>
            <a:r>
              <a:rPr lang="en-IN" sz="1200" dirty="0" err="1"/>
              <a:t>app.config</a:t>
            </a:r>
            <a:r>
              <a:rPr lang="en-IN" sz="1200" dirty="0"/>
              <a:t>["UPLOAD_FOLDER"]             = </a:t>
            </a:r>
            <a:r>
              <a:rPr lang="en-IN" sz="1200" dirty="0" err="1"/>
              <a:t>os.path.join</a:t>
            </a:r>
            <a:r>
              <a:rPr lang="en-IN" sz="1200" dirty="0"/>
              <a:t>(</a:t>
            </a:r>
            <a:r>
              <a:rPr lang="en-IN" sz="1200" dirty="0" err="1"/>
              <a:t>os.path.dirname</a:t>
            </a:r>
            <a:r>
              <a:rPr lang="en-IN" sz="1200" dirty="0"/>
              <a:t>(__file__), "uploads")</a:t>
            </a:r>
          </a:p>
          <a:p>
            <a:r>
              <a:rPr lang="en-IN" sz="1200" dirty="0" err="1"/>
              <a:t>app.config</a:t>
            </a:r>
            <a:r>
              <a:rPr lang="en-IN" sz="1200" dirty="0"/>
              <a:t>["MAX_CONTENT_LENGTH"]        = 16 * 1024 * 1024   # 16 MB</a:t>
            </a:r>
          </a:p>
          <a:p>
            <a:r>
              <a:rPr lang="en-IN" sz="1200" dirty="0"/>
              <a:t>ALLOWED_EXTENSIONS = {"</a:t>
            </a:r>
            <a:r>
              <a:rPr lang="en-IN" sz="1200" dirty="0" err="1"/>
              <a:t>png</a:t>
            </a:r>
            <a:r>
              <a:rPr lang="en-IN" sz="1200" dirty="0"/>
              <a:t>", "jpg", "jpeg", "bmp", "tiff", "</a:t>
            </a:r>
            <a:r>
              <a:rPr lang="en-IN" sz="1200" dirty="0" err="1"/>
              <a:t>webp</a:t>
            </a:r>
            <a:r>
              <a:rPr lang="en-IN" sz="1200" dirty="0"/>
              <a:t>"}</a:t>
            </a:r>
          </a:p>
          <a:p>
            <a:r>
              <a:rPr lang="en-IN" sz="1200" dirty="0" err="1"/>
              <a:t>db</a:t>
            </a:r>
            <a:r>
              <a:rPr lang="en-IN" sz="1200" dirty="0"/>
              <a:t>     = </a:t>
            </a:r>
            <a:r>
              <a:rPr lang="en-IN" sz="1200" dirty="0" err="1"/>
              <a:t>SQLAlchemy</a:t>
            </a:r>
            <a:r>
              <a:rPr lang="en-IN" sz="1200" dirty="0"/>
              <a:t>(app)</a:t>
            </a:r>
          </a:p>
          <a:p>
            <a:r>
              <a:rPr lang="en-IN" sz="1200" dirty="0" err="1"/>
              <a:t>bcrypt</a:t>
            </a:r>
            <a:r>
              <a:rPr lang="en-IN" sz="1200" dirty="0"/>
              <a:t> = </a:t>
            </a:r>
            <a:r>
              <a:rPr lang="en-IN" sz="1200" dirty="0" err="1"/>
              <a:t>Bcrypt</a:t>
            </a:r>
            <a:r>
              <a:rPr lang="en-IN" sz="1200" dirty="0"/>
              <a:t>(app)</a:t>
            </a:r>
          </a:p>
          <a:p>
            <a:r>
              <a:rPr lang="en-IN" sz="1200" dirty="0"/>
              <a:t># ── Create required folders</a:t>
            </a:r>
          </a:p>
          <a:p>
            <a:r>
              <a:rPr lang="en-IN" sz="1200" dirty="0" err="1"/>
              <a:t>os.makedirs</a:t>
            </a:r>
            <a:r>
              <a:rPr lang="en-IN" sz="1200" dirty="0"/>
              <a:t>(</a:t>
            </a:r>
            <a:r>
              <a:rPr lang="en-IN" sz="1200" dirty="0" err="1"/>
              <a:t>app.config</a:t>
            </a:r>
            <a:r>
              <a:rPr lang="en-IN" sz="1200" dirty="0"/>
              <a:t>["UPLOAD_FOLDER"], </a:t>
            </a:r>
            <a:r>
              <a:rPr lang="en-IN" sz="1200" dirty="0" err="1"/>
              <a:t>exist_ok</a:t>
            </a:r>
            <a:r>
              <a:rPr lang="en-IN" sz="1200" dirty="0"/>
              <a:t>=True)</a:t>
            </a:r>
          </a:p>
          <a:p>
            <a:r>
              <a:rPr lang="en-IN" sz="1200" dirty="0" err="1"/>
              <a:t>os.makedirs</a:t>
            </a:r>
            <a:r>
              <a:rPr lang="en-IN" sz="1200" dirty="0"/>
              <a:t>(</a:t>
            </a:r>
            <a:r>
              <a:rPr lang="en-IN" sz="1200" dirty="0" err="1"/>
              <a:t>os.path.join</a:t>
            </a:r>
            <a:r>
              <a:rPr lang="en-IN" sz="1200" dirty="0"/>
              <a:t>("static", "images"), </a:t>
            </a:r>
            <a:r>
              <a:rPr lang="en-IN" sz="1200" dirty="0" err="1"/>
              <a:t>exist_ok</a:t>
            </a:r>
            <a:r>
              <a:rPr lang="en-IN" sz="1200" dirty="0"/>
              <a:t>=True)</a:t>
            </a:r>
          </a:p>
          <a:p>
            <a:r>
              <a:rPr lang="en-IN" sz="1200" dirty="0"/>
              <a:t># LOAD CNN MODEL</a:t>
            </a:r>
          </a:p>
          <a:p>
            <a:r>
              <a:rPr lang="en-IN" sz="1200" dirty="0"/>
              <a:t>model = None</a:t>
            </a:r>
          </a:p>
          <a:p>
            <a:r>
              <a:rPr lang="en-IN" sz="1200" dirty="0"/>
              <a:t>try:</a:t>
            </a:r>
          </a:p>
          <a:p>
            <a:r>
              <a:rPr lang="en-IN" sz="1200" dirty="0"/>
              <a:t>    from </a:t>
            </a:r>
            <a:r>
              <a:rPr lang="en-IN" sz="1200" dirty="0" err="1"/>
              <a:t>tensorflow.keras.models</a:t>
            </a:r>
            <a:r>
              <a:rPr lang="en-IN" sz="1200" dirty="0"/>
              <a:t> import </a:t>
            </a:r>
            <a:r>
              <a:rPr lang="en-IN" sz="1200" dirty="0" err="1"/>
              <a:t>load_model</a:t>
            </a:r>
            <a:r>
              <a:rPr lang="en-IN" sz="1200" dirty="0"/>
              <a:t> as _</a:t>
            </a:r>
            <a:r>
              <a:rPr lang="en-IN" sz="1200" dirty="0" err="1"/>
              <a:t>load_model</a:t>
            </a:r>
            <a:endParaRPr lang="en-IN" sz="1200" dirty="0"/>
          </a:p>
          <a:p>
            <a:r>
              <a:rPr lang="en-IN" sz="1200" dirty="0"/>
              <a:t>    _</a:t>
            </a:r>
            <a:r>
              <a:rPr lang="en-IN" sz="1200" dirty="0" err="1"/>
              <a:t>model_path</a:t>
            </a:r>
            <a:r>
              <a:rPr lang="en-IN" sz="1200" dirty="0"/>
              <a:t> = </a:t>
            </a:r>
            <a:r>
              <a:rPr lang="en-IN" sz="1200" dirty="0" err="1"/>
              <a:t>os.path.join</a:t>
            </a:r>
            <a:r>
              <a:rPr lang="en-IN" sz="1200" dirty="0"/>
              <a:t>(</a:t>
            </a:r>
            <a:r>
              <a:rPr lang="en-IN" sz="1200" dirty="0" err="1"/>
              <a:t>os.path.dirname</a:t>
            </a:r>
            <a:r>
              <a:rPr lang="en-IN" sz="1200" dirty="0"/>
              <a:t>(__file__), "</a:t>
            </a:r>
            <a:r>
              <a:rPr lang="en-IN" sz="1200" dirty="0" err="1"/>
              <a:t>model.keras</a:t>
            </a:r>
            <a:r>
              <a:rPr lang="en-IN" sz="1200" dirty="0"/>
              <a:t>")</a:t>
            </a:r>
          </a:p>
          <a:p>
            <a:r>
              <a:rPr lang="en-IN" sz="1200" dirty="0"/>
              <a:t>    if </a:t>
            </a:r>
            <a:r>
              <a:rPr lang="en-IN" sz="1200" dirty="0" err="1"/>
              <a:t>os.path.exists</a:t>
            </a:r>
            <a:r>
              <a:rPr lang="en-IN" sz="1200" dirty="0"/>
              <a:t>(_</a:t>
            </a:r>
            <a:r>
              <a:rPr lang="en-IN" sz="1200" dirty="0" err="1"/>
              <a:t>model_path</a:t>
            </a:r>
            <a:r>
              <a:rPr lang="en-IN" sz="1200" dirty="0"/>
              <a:t>):</a:t>
            </a:r>
          </a:p>
          <a:p>
            <a:r>
              <a:rPr lang="en-IN" sz="1200" dirty="0"/>
              <a:t>        model = _</a:t>
            </a:r>
            <a:r>
              <a:rPr lang="en-IN" sz="1200" dirty="0" err="1"/>
              <a:t>load_model</a:t>
            </a:r>
            <a:r>
              <a:rPr lang="en-IN" sz="1200" dirty="0"/>
              <a:t>(_</a:t>
            </a:r>
            <a:r>
              <a:rPr lang="en-IN" sz="1200" dirty="0" err="1"/>
              <a:t>model_path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print("✅  </a:t>
            </a:r>
            <a:r>
              <a:rPr lang="en-IN" sz="1200" dirty="0" err="1"/>
              <a:t>model.keras</a:t>
            </a:r>
            <a:r>
              <a:rPr lang="en-IN" sz="1200" dirty="0"/>
              <a:t> loaded successfully")</a:t>
            </a:r>
          </a:p>
          <a:p>
            <a:r>
              <a:rPr lang="en-IN" sz="1200" dirty="0"/>
              <a:t>    else:</a:t>
            </a:r>
          </a:p>
          <a:p>
            <a:r>
              <a:rPr lang="en-IN" sz="1200" dirty="0"/>
              <a:t>        print("⚠️   </a:t>
            </a:r>
            <a:r>
              <a:rPr lang="en-IN" sz="1200" dirty="0" err="1"/>
              <a:t>model.keras</a:t>
            </a:r>
            <a:r>
              <a:rPr lang="en-IN" sz="1200" dirty="0"/>
              <a:t> not found — running in DEMO mode (random results)")</a:t>
            </a:r>
          </a:p>
          <a:p>
            <a:r>
              <a:rPr lang="en-IN" sz="1200" dirty="0"/>
              <a:t>except Exception as e:</a:t>
            </a:r>
          </a:p>
          <a:p>
            <a:r>
              <a:rPr lang="en-IN" sz="1200" dirty="0"/>
              <a:t>    print(f"⚠️   TensorFlow not available: {e}\n    Running in DEMO mode.")</a:t>
            </a:r>
          </a:p>
          <a:p>
            <a:endParaRPr lang="en-IN" sz="1200" dirty="0"/>
          </a:p>
          <a:p>
            <a:r>
              <a:rPr lang="en-IN" sz="1200" dirty="0"/>
              <a:t># ── Load class threshold config ──────────────────────────────────────────────────</a:t>
            </a:r>
          </a:p>
          <a:p>
            <a:r>
              <a:rPr lang="en-IN" sz="1200" dirty="0"/>
              <a:t>_FAKE_CLASS_IS_0 = True</a:t>
            </a:r>
          </a:p>
          <a:p>
            <a:r>
              <a:rPr lang="en-IN" sz="1200" dirty="0"/>
              <a:t>_</a:t>
            </a:r>
            <a:r>
              <a:rPr lang="en-IN" sz="1200" dirty="0" err="1"/>
              <a:t>class_info_path</a:t>
            </a:r>
            <a:r>
              <a:rPr lang="en-IN" sz="1200" dirty="0"/>
              <a:t> = </a:t>
            </a:r>
            <a:r>
              <a:rPr lang="en-IN" sz="1200" dirty="0" err="1"/>
              <a:t>os.path.join</a:t>
            </a:r>
            <a:r>
              <a:rPr lang="en-IN" sz="1200" dirty="0"/>
              <a:t>(</a:t>
            </a:r>
            <a:r>
              <a:rPr lang="en-IN" sz="1200" dirty="0" err="1"/>
              <a:t>os.path.dirname</a:t>
            </a:r>
            <a:r>
              <a:rPr lang="en-IN" sz="1200" dirty="0"/>
              <a:t>(__file__), "</a:t>
            </a:r>
            <a:r>
              <a:rPr lang="en-IN" sz="1200" dirty="0" err="1"/>
              <a:t>class_info.json</a:t>
            </a:r>
            <a:r>
              <a:rPr lang="en-IN" sz="1200" dirty="0"/>
              <a:t>")</a:t>
            </a:r>
          </a:p>
          <a:p>
            <a:r>
              <a:rPr lang="en-IN" sz="1200" dirty="0"/>
              <a:t>if </a:t>
            </a:r>
            <a:r>
              <a:rPr lang="en-IN" sz="1200" dirty="0" err="1"/>
              <a:t>os.path.exists</a:t>
            </a:r>
            <a:r>
              <a:rPr lang="en-IN" sz="1200" dirty="0"/>
              <a:t>(_</a:t>
            </a:r>
            <a:r>
              <a:rPr lang="en-IN" sz="1200" dirty="0" err="1"/>
              <a:t>class_info_path</a:t>
            </a:r>
            <a:r>
              <a:rPr lang="en-IN" sz="1200" dirty="0"/>
              <a:t>):</a:t>
            </a:r>
          </a:p>
          <a:p>
            <a:r>
              <a:rPr lang="en-IN" sz="1200" dirty="0"/>
              <a:t>    with open(_</a:t>
            </a:r>
            <a:r>
              <a:rPr lang="en-IN" sz="1200" dirty="0" err="1"/>
              <a:t>class_info_path</a:t>
            </a:r>
            <a:r>
              <a:rPr lang="en-IN" sz="1200" dirty="0"/>
              <a:t>) as _f:</a:t>
            </a:r>
          </a:p>
          <a:p>
            <a:r>
              <a:rPr lang="en-IN" sz="1200" dirty="0"/>
              <a:t>        _ci = </a:t>
            </a:r>
            <a:r>
              <a:rPr lang="en-IN" sz="1200" dirty="0" err="1"/>
              <a:t>json.load</a:t>
            </a:r>
            <a:r>
              <a:rPr lang="en-IN" sz="1200" dirty="0"/>
              <a:t>(_f)</a:t>
            </a:r>
          </a:p>
          <a:p>
            <a:r>
              <a:rPr lang="en-IN" sz="1200" dirty="0"/>
              <a:t>    _FAKE_CLASS_IS_0 = _</a:t>
            </a:r>
            <a:r>
              <a:rPr lang="en-IN" sz="1200" dirty="0" err="1"/>
              <a:t>ci.get</a:t>
            </a:r>
            <a:r>
              <a:rPr lang="en-IN" sz="1200" dirty="0"/>
              <a:t>("fake_class_is_0", True)</a:t>
            </a:r>
          </a:p>
          <a:p>
            <a:r>
              <a:rPr lang="en-IN" sz="1200" dirty="0"/>
              <a:t>    print(f"✅  </a:t>
            </a:r>
            <a:r>
              <a:rPr lang="en-IN" sz="1200" dirty="0" err="1"/>
              <a:t>class_info.json</a:t>
            </a:r>
            <a:r>
              <a:rPr lang="en-IN" sz="1200" dirty="0"/>
              <a:t> loaded — {_</a:t>
            </a:r>
            <a:r>
              <a:rPr lang="en-IN" sz="1200" dirty="0" err="1"/>
              <a:t>ci.get</a:t>
            </a:r>
            <a:r>
              <a:rPr lang="en-IN" sz="1200" dirty="0"/>
              <a:t>('</a:t>
            </a:r>
            <a:r>
              <a:rPr lang="en-IN" sz="1200" dirty="0" err="1"/>
              <a:t>threshold_note</a:t>
            </a:r>
            <a:r>
              <a:rPr lang="en-IN" sz="1200" dirty="0"/>
              <a:t>', '')}")</a:t>
            </a:r>
          </a:p>
          <a:p>
            <a:r>
              <a:rPr lang="en-IN" sz="1200" dirty="0"/>
              <a:t>else:</a:t>
            </a:r>
          </a:p>
          <a:p>
            <a:r>
              <a:rPr lang="en-IN" sz="1200" dirty="0"/>
              <a:t>    print("⚠️   </a:t>
            </a:r>
            <a:r>
              <a:rPr lang="en-IN" sz="1200" dirty="0" err="1"/>
              <a:t>class_info.json</a:t>
            </a:r>
            <a:r>
              <a:rPr lang="en-IN" sz="1200" dirty="0"/>
              <a:t> not found — using default: output &lt; 0.5 = FAKE")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77457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F4C11-2B51-CDEE-FA8B-41383C1E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15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062DF-E795-D4ED-BFD4-C04FCC6AD01D}"/>
              </a:ext>
            </a:extLst>
          </p:cNvPr>
          <p:cNvSpPr txBox="1"/>
          <p:nvPr/>
        </p:nvSpPr>
        <p:spPr>
          <a:xfrm>
            <a:off x="700910" y="270396"/>
            <a:ext cx="1118317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#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en-IN" sz="1200" dirty="0"/>
              <a:t># DATABASE MODELS</a:t>
            </a:r>
          </a:p>
          <a:p>
            <a:r>
              <a:rPr lang="en-IN" sz="1200" dirty="0"/>
              <a:t>#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en-IN" sz="1200" dirty="0"/>
              <a:t>class User(</a:t>
            </a:r>
            <a:r>
              <a:rPr lang="en-IN" sz="1200" dirty="0" err="1"/>
              <a:t>db.Model</a:t>
            </a:r>
            <a:r>
              <a:rPr lang="en-IN" sz="1200" dirty="0"/>
              <a:t>):</a:t>
            </a:r>
          </a:p>
          <a:p>
            <a:r>
              <a:rPr lang="en-IN" sz="1200" dirty="0"/>
              <a:t>    __</a:t>
            </a:r>
            <a:r>
              <a:rPr lang="en-IN" sz="1200" dirty="0" err="1"/>
              <a:t>tablename</a:t>
            </a:r>
            <a:r>
              <a:rPr lang="en-IN" sz="1200" dirty="0"/>
              <a:t>__ = "user"</a:t>
            </a:r>
          </a:p>
          <a:p>
            <a:r>
              <a:rPr lang="en-IN" sz="1200" dirty="0"/>
              <a:t>    id       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db.Integer</a:t>
            </a:r>
            <a:r>
              <a:rPr lang="en-IN" sz="1200" dirty="0"/>
              <a:t>,     </a:t>
            </a:r>
            <a:r>
              <a:rPr lang="en-IN" sz="1200" dirty="0" err="1"/>
              <a:t>primary_key</a:t>
            </a:r>
            <a:r>
              <a:rPr lang="en-IN" sz="1200" dirty="0"/>
              <a:t>=True)</a:t>
            </a:r>
          </a:p>
          <a:p>
            <a:r>
              <a:rPr lang="en-IN" sz="1200" dirty="0"/>
              <a:t>    username 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db.String</a:t>
            </a:r>
            <a:r>
              <a:rPr lang="en-IN" sz="1200" dirty="0"/>
              <a:t>(100), unique=True,  nullable=False)</a:t>
            </a:r>
          </a:p>
          <a:p>
            <a:r>
              <a:rPr lang="en-IN" sz="1200" dirty="0"/>
              <a:t>    email    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db.String</a:t>
            </a:r>
            <a:r>
              <a:rPr lang="en-IN" sz="1200" dirty="0"/>
              <a:t>(150), unique=True,  nullable=False)</a:t>
            </a:r>
          </a:p>
          <a:p>
            <a:r>
              <a:rPr lang="en-IN" sz="1200" dirty="0"/>
              <a:t>    password 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db.String</a:t>
            </a:r>
            <a:r>
              <a:rPr lang="en-IN" sz="1200" dirty="0"/>
              <a:t>(200), nullable=False)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profile_pic</a:t>
            </a:r>
            <a:r>
              <a:rPr lang="en-IN" sz="1200" dirty="0"/>
              <a:t>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db.String</a:t>
            </a:r>
            <a:r>
              <a:rPr lang="en-IN" sz="1200" dirty="0"/>
              <a:t>(200), default="default.png")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created_at</a:t>
            </a:r>
            <a:r>
              <a:rPr lang="en-IN" sz="1200" dirty="0"/>
              <a:t>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db.DateTime</a:t>
            </a:r>
            <a:r>
              <a:rPr lang="en-IN" sz="1200" dirty="0"/>
              <a:t>,    default=</a:t>
            </a:r>
            <a:r>
              <a:rPr lang="en-IN" sz="1200" dirty="0" err="1"/>
              <a:t>datetime.utcnow</a:t>
            </a:r>
            <a:r>
              <a:rPr lang="en-IN" sz="1200" dirty="0"/>
              <a:t>)</a:t>
            </a:r>
          </a:p>
          <a:p>
            <a:r>
              <a:rPr lang="en-IN" sz="1200" dirty="0"/>
              <a:t>    scans = </a:t>
            </a:r>
            <a:r>
              <a:rPr lang="en-IN" sz="1200" dirty="0" err="1"/>
              <a:t>db.relationship</a:t>
            </a:r>
            <a:r>
              <a:rPr lang="en-IN" sz="1200" dirty="0"/>
              <a:t>("</a:t>
            </a:r>
            <a:r>
              <a:rPr lang="en-IN" sz="1200" dirty="0" err="1"/>
              <a:t>ScanHistory</a:t>
            </a:r>
            <a:r>
              <a:rPr lang="en-IN" sz="1200" dirty="0"/>
              <a:t>", </a:t>
            </a:r>
            <a:r>
              <a:rPr lang="en-IN" sz="1200" dirty="0" err="1"/>
              <a:t>backref</a:t>
            </a:r>
            <a:r>
              <a:rPr lang="en-IN" sz="1200" dirty="0"/>
              <a:t>="user", lazy=True,</a:t>
            </a:r>
          </a:p>
          <a:p>
            <a:r>
              <a:rPr lang="en-IN" sz="1200" dirty="0"/>
              <a:t>                             cascade="all, delete-orphan")</a:t>
            </a:r>
          </a:p>
          <a:p>
            <a:r>
              <a:rPr lang="en-IN" sz="1200" dirty="0"/>
              <a:t>    def __</a:t>
            </a:r>
            <a:r>
              <a:rPr lang="en-IN" sz="1200" dirty="0" err="1"/>
              <a:t>repr</a:t>
            </a:r>
            <a:r>
              <a:rPr lang="en-IN" sz="1200" dirty="0"/>
              <a:t>__(self):</a:t>
            </a:r>
          </a:p>
          <a:p>
            <a:r>
              <a:rPr lang="en-IN" sz="1200" dirty="0"/>
              <a:t>        return f"&lt;User {</a:t>
            </a:r>
            <a:r>
              <a:rPr lang="en-IN" sz="1200" dirty="0" err="1"/>
              <a:t>self.username</a:t>
            </a:r>
            <a:r>
              <a:rPr lang="en-IN" sz="1200" dirty="0"/>
              <a:t>}&gt;"</a:t>
            </a:r>
          </a:p>
          <a:p>
            <a:r>
              <a:rPr lang="en-IN" sz="1200" dirty="0"/>
              <a:t>   class </a:t>
            </a:r>
            <a:r>
              <a:rPr lang="en-IN" sz="1200" dirty="0" err="1"/>
              <a:t>ScanHistory</a:t>
            </a:r>
            <a:r>
              <a:rPr lang="en-IN" sz="1200" dirty="0"/>
              <a:t>(</a:t>
            </a:r>
            <a:r>
              <a:rPr lang="en-IN" sz="1200" dirty="0" err="1"/>
              <a:t>db.Model</a:t>
            </a:r>
            <a:r>
              <a:rPr lang="en-IN" sz="1200" dirty="0"/>
              <a:t>):</a:t>
            </a:r>
          </a:p>
          <a:p>
            <a:r>
              <a:rPr lang="en-IN" sz="1200" dirty="0"/>
              <a:t>    __</a:t>
            </a:r>
            <a:r>
              <a:rPr lang="en-IN" sz="1200" dirty="0" err="1"/>
              <a:t>tablename</a:t>
            </a:r>
            <a:r>
              <a:rPr lang="en-IN" sz="1200" dirty="0"/>
              <a:t>__ = "</a:t>
            </a:r>
            <a:r>
              <a:rPr lang="en-IN" sz="1200" dirty="0" err="1"/>
              <a:t>scan_history</a:t>
            </a:r>
            <a:r>
              <a:rPr lang="en-IN" sz="1200" dirty="0"/>
              <a:t>"</a:t>
            </a:r>
          </a:p>
          <a:p>
            <a:r>
              <a:rPr lang="en-IN" sz="1200" dirty="0"/>
              <a:t>   id      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db.Integer</a:t>
            </a:r>
            <a:r>
              <a:rPr lang="en-IN" sz="1200" dirty="0"/>
              <a:t>,    </a:t>
            </a:r>
            <a:r>
              <a:rPr lang="en-IN" sz="1200" dirty="0" err="1"/>
              <a:t>primary_key</a:t>
            </a:r>
            <a:r>
              <a:rPr lang="en-IN" sz="1200" dirty="0"/>
              <a:t>=True)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user_id</a:t>
            </a:r>
            <a:r>
              <a:rPr lang="en-IN" sz="1200" dirty="0"/>
              <a:t> 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db.Integer</a:t>
            </a:r>
            <a:r>
              <a:rPr lang="en-IN" sz="1200" dirty="0"/>
              <a:t>,    </a:t>
            </a:r>
            <a:r>
              <a:rPr lang="en-IN" sz="1200" dirty="0" err="1"/>
              <a:t>db.ForeignKey</a:t>
            </a:r>
            <a:r>
              <a:rPr lang="en-IN" sz="1200" dirty="0"/>
              <a:t>("user.id"), nullable=False)</a:t>
            </a:r>
          </a:p>
          <a:p>
            <a:r>
              <a:rPr lang="en-IN" sz="1200" dirty="0"/>
              <a:t>    filename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db.String</a:t>
            </a:r>
            <a:r>
              <a:rPr lang="en-IN" sz="1200" dirty="0"/>
              <a:t>(300), nullable=False)</a:t>
            </a:r>
          </a:p>
          <a:p>
            <a:r>
              <a:rPr lang="en-IN" sz="1200" dirty="0"/>
              <a:t>    result    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db.String</a:t>
            </a:r>
            <a:r>
              <a:rPr lang="en-IN" sz="1200" dirty="0"/>
              <a:t>(50),  nullable=False)   # "Fake Document" | "Original Document"</a:t>
            </a:r>
          </a:p>
          <a:p>
            <a:r>
              <a:rPr lang="en-IN" sz="1200" dirty="0"/>
              <a:t>    confidence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db.Float</a:t>
            </a:r>
            <a:r>
              <a:rPr lang="en-IN" sz="1200" dirty="0"/>
              <a:t>,       nullable=False)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scanned_at</a:t>
            </a:r>
            <a:r>
              <a:rPr lang="en-IN" sz="1200" dirty="0"/>
              <a:t> = </a:t>
            </a:r>
            <a:r>
              <a:rPr lang="en-IN" sz="1200" dirty="0" err="1"/>
              <a:t>db.Column</a:t>
            </a:r>
            <a:r>
              <a:rPr lang="en-IN" sz="1200" dirty="0"/>
              <a:t>(</a:t>
            </a:r>
            <a:r>
              <a:rPr lang="en-IN" sz="1200" dirty="0" err="1"/>
              <a:t>db.DateTime</a:t>
            </a:r>
            <a:r>
              <a:rPr lang="en-IN" sz="1200" dirty="0"/>
              <a:t>,    default=</a:t>
            </a:r>
            <a:r>
              <a:rPr lang="en-IN" sz="1200" dirty="0" err="1"/>
              <a:t>datetime.utcnow</a:t>
            </a:r>
            <a:r>
              <a:rPr lang="en-IN" sz="1200" dirty="0"/>
              <a:t>)</a:t>
            </a:r>
          </a:p>
          <a:p>
            <a:r>
              <a:rPr lang="en-IN" sz="1200" dirty="0"/>
              <a:t>    def __</a:t>
            </a:r>
            <a:r>
              <a:rPr lang="en-IN" sz="1200" dirty="0" err="1"/>
              <a:t>repr</a:t>
            </a:r>
            <a:r>
              <a:rPr lang="en-IN" sz="1200" dirty="0"/>
              <a:t>__(self):</a:t>
            </a:r>
          </a:p>
          <a:p>
            <a:r>
              <a:rPr lang="en-IN" sz="1200" dirty="0"/>
              <a:t>        return f"&lt;Scan {</a:t>
            </a:r>
            <a:r>
              <a:rPr lang="en-IN" sz="1200" dirty="0" err="1"/>
              <a:t>self.filename</a:t>
            </a:r>
            <a:r>
              <a:rPr lang="en-IN" sz="1200" dirty="0"/>
              <a:t>} → {</a:t>
            </a:r>
            <a:r>
              <a:rPr lang="en-IN" sz="1200" dirty="0" err="1"/>
              <a:t>self.result</a:t>
            </a:r>
            <a:r>
              <a:rPr lang="en-IN" sz="1200" dirty="0"/>
              <a:t>}&gt;"</a:t>
            </a:r>
          </a:p>
          <a:p>
            <a:r>
              <a:rPr lang="en-IN" sz="1200" dirty="0"/>
              <a:t>    @property</a:t>
            </a:r>
          </a:p>
          <a:p>
            <a:r>
              <a:rPr lang="en-IN" sz="1200" dirty="0"/>
              <a:t>    def </a:t>
            </a:r>
            <a:r>
              <a:rPr lang="en-IN" sz="1200" dirty="0" err="1"/>
              <a:t>is_fake</a:t>
            </a:r>
            <a:r>
              <a:rPr lang="en-IN" sz="1200" dirty="0"/>
              <a:t>(self):</a:t>
            </a:r>
          </a:p>
          <a:p>
            <a:r>
              <a:rPr lang="en-IN" sz="1200" dirty="0"/>
              <a:t>        return </a:t>
            </a:r>
            <a:r>
              <a:rPr lang="en-IN" sz="1200" dirty="0" err="1"/>
              <a:t>self.result</a:t>
            </a:r>
            <a:r>
              <a:rPr lang="en-IN" sz="1200" dirty="0"/>
              <a:t> == "Fake Document"</a:t>
            </a:r>
          </a:p>
          <a:p>
            <a:r>
              <a:rPr lang="en-IN" sz="1200" dirty="0"/>
              <a:t>   @property</a:t>
            </a:r>
          </a:p>
          <a:p>
            <a:r>
              <a:rPr lang="en-IN" sz="1200" dirty="0"/>
              <a:t>    def </a:t>
            </a:r>
            <a:r>
              <a:rPr lang="en-IN" sz="1200" dirty="0" err="1"/>
              <a:t>result_class</a:t>
            </a:r>
            <a:r>
              <a:rPr lang="en-IN" sz="1200" dirty="0"/>
              <a:t>(self):</a:t>
            </a:r>
          </a:p>
          <a:p>
            <a:r>
              <a:rPr lang="en-IN" sz="1200" dirty="0"/>
              <a:t>        return "fake" if </a:t>
            </a:r>
            <a:r>
              <a:rPr lang="en-IN" sz="1200" dirty="0" err="1"/>
              <a:t>self.is_fake</a:t>
            </a:r>
            <a:r>
              <a:rPr lang="en-IN" sz="1200" dirty="0"/>
              <a:t> else "original"</a:t>
            </a:r>
          </a:p>
          <a:p>
            <a:r>
              <a:rPr lang="en-IN" sz="1200" dirty="0"/>
              <a:t># Create all tables</a:t>
            </a:r>
          </a:p>
          <a:p>
            <a:r>
              <a:rPr lang="en-IN" sz="1200" dirty="0"/>
              <a:t>with </a:t>
            </a:r>
            <a:r>
              <a:rPr lang="en-IN" sz="1200" dirty="0" err="1"/>
              <a:t>app.app_context</a:t>
            </a:r>
            <a:r>
              <a:rPr lang="en-IN" sz="1200" dirty="0"/>
              <a:t>():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db.create_all</a:t>
            </a:r>
            <a:r>
              <a:rPr lang="en-IN" sz="1200" dirty="0"/>
              <a:t>()</a:t>
            </a:r>
          </a:p>
          <a:p>
            <a:r>
              <a:rPr lang="en-IN" sz="1200" dirty="0"/>
              <a:t>    print("✅  Database tables ready (</a:t>
            </a:r>
            <a:r>
              <a:rPr lang="en-IN" sz="1200" dirty="0" err="1"/>
              <a:t>docverify.db</a:t>
            </a:r>
            <a:r>
              <a:rPr lang="en-IN" sz="1200" dirty="0"/>
              <a:t>)")</a:t>
            </a:r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44734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D23DF-3718-9791-76E1-82D8A15D9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16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E9FE3-512F-961A-19F6-FD7FFAC8A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13" y="963289"/>
            <a:ext cx="5046410" cy="5094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8B4111-613F-AF88-EB16-316017DE1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728" y="963289"/>
            <a:ext cx="5046411" cy="50949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B5D186-72E7-02C1-E179-7E2B77C24DB0}"/>
              </a:ext>
            </a:extLst>
          </p:cNvPr>
          <p:cNvSpPr txBox="1"/>
          <p:nvPr/>
        </p:nvSpPr>
        <p:spPr>
          <a:xfrm>
            <a:off x="360413" y="270396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471911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893E4-39A8-8F4C-CFC2-958DEFBF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17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8E2DC-BEE6-7412-9856-6CCE8B0B1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13" y="1134492"/>
            <a:ext cx="5616624" cy="5256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20A976-291F-B589-47E3-6E615C029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117" y="1134493"/>
            <a:ext cx="5616624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83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1A9AE8-5A07-AA44-27A4-1CAA2DA0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18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B707FE-0489-7923-AFAE-DD1867F61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533" y="862120"/>
            <a:ext cx="9417372" cy="529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32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9356" y="561763"/>
            <a:ext cx="8485919" cy="861538"/>
          </a:xfrm>
          <a:prstGeom prst="rect">
            <a:avLst/>
          </a:prstGeom>
          <a:noFill/>
        </p:spPr>
        <p:txBody>
          <a:bodyPr wrap="square" lIns="121687" tIns="60843" rIns="121687" bIns="60843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0493" y="1782564"/>
            <a:ext cx="110892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X. Liu, J.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Wang, and Y. Yin, “Supervised discrete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multiplelength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hashing for image retrieval,” IEEE Trans. Big Data, vol. 9, no. 1, pp. 312–327, Feb. 2023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Zhao, C. Chen, and J. Huang, “Deep learning-based forgery attack on document images,” IEEE Trans. Image Process., vol. 30, pp. 7964–7979,2021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Wu et al., “Editing text in the wild,” in Proc. 27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ACM Int.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Conf.Multimedia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2019, pp. 1500–1508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Liu, Y. Liu, L. Jin, S. Zhang,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Y. Wang,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EraseNet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-end text removal in the wild,” IEEE Trans. Image Process., vol. 29,pp. 8760–8775, 2020.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0F415-F0C1-4435-939E-1925BA790F9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7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1859</Words>
  <Application>Microsoft Office PowerPoint</Application>
  <PresentationFormat>Custom</PresentationFormat>
  <Paragraphs>260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swathi Arumugam</cp:lastModifiedBy>
  <cp:revision>61</cp:revision>
  <dcterms:created xsi:type="dcterms:W3CDTF">2026-02-16T18:07:41Z</dcterms:created>
  <dcterms:modified xsi:type="dcterms:W3CDTF">2026-03-24T06:54:55Z</dcterms:modified>
</cp:coreProperties>
</file>